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5371" autoAdjust="0"/>
  </p:normalViewPr>
  <p:slideViewPr>
    <p:cSldViewPr snapToGrid="0" snapToObjects="1">
      <p:cViewPr varScale="1">
        <p:scale>
          <a:sx n="48" d="100"/>
          <a:sy n="48" d="100"/>
        </p:scale>
        <p:origin x="13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0937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"Let me start with a small story. Imagine you send your junior developer in Accra to go and deploy a service at </a:t>
            </a:r>
            <a:r>
              <a:rPr lang="en-US" dirty="0" err="1" smtClean="0"/>
              <a:t>Makola</a:t>
            </a:r>
            <a:r>
              <a:rPr lang="en-US" dirty="0" smtClean="0"/>
              <a:t>.</a:t>
            </a:r>
          </a:p>
          <a:p>
            <a:r>
              <a:rPr lang="en-US" dirty="0" smtClean="0"/>
              <a:t> He comes back and says 'Done! I connected it to the RDS.' </a:t>
            </a:r>
          </a:p>
          <a:p>
            <a:r>
              <a:rPr lang="en-US" dirty="0" smtClean="0"/>
              <a:t>But you later check - he didn't even read the file that tells him where the real database is. </a:t>
            </a:r>
          </a:p>
          <a:p>
            <a:r>
              <a:rPr lang="en-US" dirty="0" smtClean="0"/>
              <a:t>He just invented the location in his head.</a:t>
            </a:r>
          </a:p>
          <a:p>
            <a:r>
              <a:rPr lang="en-US" dirty="0" smtClean="0"/>
              <a:t>The app worked in the test, but on a real day, it will fail.</a:t>
            </a:r>
          </a:p>
          <a:p>
            <a:r>
              <a:rPr lang="en-US" dirty="0" smtClean="0"/>
              <a:t> This is what AI agents do too. </a:t>
            </a:r>
          </a:p>
          <a:p>
            <a:r>
              <a:rPr lang="en-US" dirty="0" smtClean="0"/>
              <a:t>They can give you the right answer using the wrong steps. </a:t>
            </a:r>
          </a:p>
          <a:p>
            <a:r>
              <a:rPr lang="en-US" dirty="0" smtClean="0"/>
              <a:t>If we don't evaluate, we will think it works until it breaks in production."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[~0:30] Title lands AFTER the cold open. Two breaths. 'Thirty minutes, four things to measure, and two activities where you do the work, not me.'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"Today I'm not going to confuse you. We have a simple journey. </a:t>
            </a:r>
          </a:p>
          <a:p>
            <a:r>
              <a:rPr lang="en-US" dirty="0" smtClean="0"/>
              <a:t>First, what are the 4 things we must always measure. </a:t>
            </a:r>
          </a:p>
          <a:p>
            <a:r>
              <a:rPr lang="en-US" dirty="0" smtClean="0"/>
              <a:t>Second, how to build your test questions. </a:t>
            </a:r>
          </a:p>
          <a:p>
            <a:r>
              <a:rPr lang="en-US" dirty="0" smtClean="0"/>
              <a:t>Third, how to let another AI mark the work for you. </a:t>
            </a:r>
          </a:p>
          <a:p>
            <a:r>
              <a:rPr lang="en-US" dirty="0" smtClean="0"/>
              <a:t>Then how to know if it's safe, cheap and fast. </a:t>
            </a:r>
          </a:p>
          <a:p>
            <a:r>
              <a:rPr lang="en-US" dirty="0" smtClean="0"/>
              <a:t>And finally how we build all this on AWS. </a:t>
            </a:r>
          </a:p>
          <a:p>
            <a:r>
              <a:rPr lang="en-US" dirty="0" smtClean="0"/>
              <a:t>By the end you will know how to catch your agent before it lies to you."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"Think of building an agent like building a house in East </a:t>
            </a:r>
            <a:r>
              <a:rPr lang="en-US" dirty="0" err="1" smtClean="0"/>
              <a:t>Legon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 There are 13 different jobs - plumbing, wiring, painting, security.</a:t>
            </a:r>
          </a:p>
          <a:p>
            <a:r>
              <a:rPr lang="en-US" dirty="0" smtClean="0"/>
              <a:t> Today we are focusing on only 2: The brain of the agent, and how we test if that brain is good. </a:t>
            </a:r>
          </a:p>
          <a:p>
            <a:r>
              <a:rPr lang="en-US" dirty="0" smtClean="0"/>
              <a:t>We are in the Evaluation part, but we will also touch on Routing - meaning how the agent decides which expert to call."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Like WASSCE: </a:t>
            </a:r>
          </a:p>
          <a:p>
            <a:pPr marL="228600" indent="-228600">
              <a:buAutoNum type="arabicPeriod"/>
            </a:pPr>
            <a:r>
              <a:rPr lang="en-US" dirty="0" smtClean="0"/>
              <a:t>Did it deliver?</a:t>
            </a:r>
          </a:p>
          <a:p>
            <a:pPr marL="228600" indent="-228600">
              <a:buAutoNum type="arabicPeriod"/>
            </a:pPr>
            <a:r>
              <a:rPr lang="en-US" dirty="0" smtClean="0"/>
              <a:t>Did it think well or guess? </a:t>
            </a:r>
          </a:p>
          <a:p>
            <a:pPr marL="228600" indent="-228600">
              <a:buAutoNum type="arabicPeriod"/>
            </a:pPr>
            <a:r>
              <a:rPr lang="en-US" dirty="0" smtClean="0"/>
              <a:t>Was it fast/cheap? </a:t>
            </a:r>
          </a:p>
          <a:p>
            <a:pPr marL="228600" indent="-228600">
              <a:buAutoNum type="arabicPeriod"/>
            </a:pPr>
            <a:r>
              <a:rPr lang="en-US" dirty="0" smtClean="0"/>
              <a:t>Was it safe? </a:t>
            </a:r>
          </a:p>
          <a:p>
            <a:pPr marL="0" indent="0">
              <a:buNone/>
            </a:pPr>
            <a:r>
              <a:rPr lang="en-US" dirty="0" smtClean="0"/>
              <a:t>Don't check only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Pass/Fail like "did </a:t>
            </a:r>
            <a:r>
              <a:rPr lang="en-US" dirty="0" err="1" smtClean="0"/>
              <a:t>trotro</a:t>
            </a:r>
            <a:r>
              <a:rPr lang="en-US" dirty="0" smtClean="0"/>
              <a:t> reach Circle?“</a:t>
            </a:r>
          </a:p>
          <a:p>
            <a:r>
              <a:rPr lang="en-US" dirty="0" smtClean="0"/>
              <a:t> Partial like </a:t>
            </a:r>
            <a:r>
              <a:rPr lang="en-US" dirty="0" err="1" smtClean="0"/>
              <a:t>Jollof</a:t>
            </a:r>
            <a:r>
              <a:rPr lang="en-US" dirty="0" smtClean="0"/>
              <a:t> competition. </a:t>
            </a:r>
          </a:p>
          <a:p>
            <a:r>
              <a:rPr lang="en-US" dirty="0" smtClean="0"/>
              <a:t>And always do 10% human check - </a:t>
            </a:r>
            <a:r>
              <a:rPr lang="en-US" dirty="0" err="1" smtClean="0"/>
              <a:t>headteacher</a:t>
            </a:r>
            <a:r>
              <a:rPr lang="en-US" dirty="0" smtClean="0"/>
              <a:t> checking teacher's marking. </a:t>
            </a:r>
          </a:p>
          <a:p>
            <a:r>
              <a:rPr lang="en-US" dirty="0" smtClean="0"/>
              <a:t>Tool: </a:t>
            </a:r>
            <a:r>
              <a:rPr lang="en-US" dirty="0" err="1" smtClean="0"/>
              <a:t>Patronus</a:t>
            </a:r>
            <a:r>
              <a:rPr lang="en-US" dirty="0" smtClean="0"/>
              <a:t>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Don't test only on Airport fast </a:t>
            </a:r>
            <a:r>
              <a:rPr lang="en-US" dirty="0" err="1" smtClean="0"/>
              <a:t>WiFi</a:t>
            </a:r>
            <a:r>
              <a:rPr lang="en-US" dirty="0" smtClean="0"/>
              <a:t>, test </a:t>
            </a:r>
            <a:r>
              <a:rPr lang="en-US" dirty="0" err="1" smtClean="0"/>
              <a:t>Kaneshie</a:t>
            </a:r>
            <a:r>
              <a:rPr lang="en-US" dirty="0" smtClean="0"/>
              <a:t> slow network too. </a:t>
            </a:r>
          </a:p>
          <a:p>
            <a:r>
              <a:rPr lang="en-US" dirty="0" smtClean="0"/>
              <a:t>You need: question, good answer, marking scheme. </a:t>
            </a:r>
          </a:p>
          <a:p>
            <a:r>
              <a:rPr lang="en-US" dirty="0" smtClean="0"/>
              <a:t>Include 5 types: simple, hard, reading old code (like ECG wiring), confusing, security traps. </a:t>
            </a:r>
          </a:p>
          <a:p>
            <a:r>
              <a:rPr lang="en-US" dirty="0" smtClean="0"/>
              <a:t>Start 20-50 only, keep in S3.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[4:30–11:00] THE CENTERPIECE. Slow down. 'You're the judge. Fingers up — 1 to 5?' Count out loud. Expect a 2-to-5 spread. NAME IT: 'That disagreement is the entire problem.' Trap is line 5 — ungrounded claim. Let someone catch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 gave agent task: Add encryption to S3. It did it but added extra story not from tools. When I asked "is this good?" - marks scattered. When I asked specific - "did it add valid block? Is claim from tool?" - everyone agrees.</a:t>
            </a:r>
          </a:p>
          <a:p>
            <a:r>
              <a:rPr lang="en-US" dirty="0" smtClean="0"/>
              <a:t> Lesson: Be specific. And never let Sonnet mark Sonnet - use Opus as teacher.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the judge activity made them feel. Line 5 in that trace failed check #4 — an unsupported claim. These four are the rubric's backbone.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like a driver </a:t>
            </a:r>
            <a:r>
              <a:rPr lang="en-US" dirty="0" err="1" smtClean="0"/>
              <a:t>Lapaz</a:t>
            </a:r>
            <a:r>
              <a:rPr lang="en-US" dirty="0" smtClean="0"/>
              <a:t> to Accra Mall: </a:t>
            </a:r>
          </a:p>
          <a:p>
            <a:r>
              <a:rPr lang="en-US" dirty="0" smtClean="0"/>
              <a:t>Right order? </a:t>
            </a:r>
          </a:p>
          <a:p>
            <a:r>
              <a:rPr lang="en-US" dirty="0" smtClean="0"/>
              <a:t>Did he listen to map or ignore roadblock?</a:t>
            </a:r>
          </a:p>
          <a:p>
            <a:r>
              <a:rPr lang="en-US" dirty="0" smtClean="0"/>
              <a:t> Valid payment? </a:t>
            </a:r>
          </a:p>
          <a:p>
            <a:r>
              <a:rPr lang="en-US" dirty="0" smtClean="0"/>
              <a:t>Did he invent stories?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You can't mark 1000 scripts by hand. Hire bigger AI. Rules: Different model, specific questions, make it explain in 2 sentences, check 10% yourself quarterly. If you disagree &gt;15% - retrain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out the four dimensions. Safety is the one people bolt on last — the line: 'Guardrails before your first deploy, not as an afterthought.'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Like delivery bike: </a:t>
            </a:r>
          </a:p>
          <a:p>
            <a:r>
              <a:rPr lang="en-US" dirty="0" smtClean="0"/>
              <a:t>Latency - order to delivery (&lt;10s). </a:t>
            </a:r>
          </a:p>
          <a:p>
            <a:r>
              <a:rPr lang="en-US" dirty="0" smtClean="0"/>
              <a:t>Cost - data per trip (alert +20%). </a:t>
            </a:r>
          </a:p>
          <a:p>
            <a:r>
              <a:rPr lang="en-US" dirty="0" smtClean="0"/>
              <a:t>Tool calls - how many calls for help? (&lt;8). </a:t>
            </a:r>
          </a:p>
          <a:p>
            <a:r>
              <a:rPr lang="en-US" dirty="0" smtClean="0"/>
              <a:t>Loops - stuck like </a:t>
            </a:r>
            <a:r>
              <a:rPr lang="en-US" dirty="0" err="1" smtClean="0"/>
              <a:t>trotro</a:t>
            </a:r>
            <a:r>
              <a:rPr lang="en-US" dirty="0" smtClean="0"/>
              <a:t> in Circle? Put in </a:t>
            </a:r>
            <a:r>
              <a:rPr lang="en-US" dirty="0" err="1" smtClean="0"/>
              <a:t>CloudWatch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Like good Okada: Guardrail violations (Bedrock blocked?), Recovery (ECG off, does it try again?), Policy adherence (only allowed actions?), Timeout (partial result or crash?). Turn on Bedrock Guardrails day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["Let me show you how we run evaluation on AWS without burning money.</a:t>
            </a:r>
          </a:p>
          <a:p>
            <a:endParaRPr lang="en-US" dirty="0" smtClean="0"/>
          </a:p>
          <a:p>
            <a:r>
              <a:rPr lang="en-US" dirty="0" smtClean="0"/>
              <a:t>Think of it like how we check WASSCE scripts in Ghana. </a:t>
            </a:r>
          </a:p>
          <a:p>
            <a:endParaRPr lang="en-US" dirty="0" smtClean="0"/>
          </a:p>
          <a:p>
            <a:r>
              <a:rPr lang="en-US" dirty="0" smtClean="0"/>
              <a:t>First, the cheap check, then the expensive teacher.</a:t>
            </a:r>
          </a:p>
          <a:p>
            <a:r>
              <a:rPr lang="en-US" dirty="0" smtClean="0"/>
              <a:t>Flow: We keep our test questions in S3. </a:t>
            </a:r>
          </a:p>
          <a:p>
            <a:r>
              <a:rPr lang="en-US" dirty="0" smtClean="0"/>
              <a:t>Then Step Functions does fan-out - meaning it sends each question to many agents at once, like sharing work to many markers.</a:t>
            </a:r>
          </a:p>
          <a:p>
            <a:r>
              <a:rPr lang="en-US" dirty="0" smtClean="0"/>
              <a:t>Each Lambda runs the agent. </a:t>
            </a:r>
          </a:p>
          <a:p>
            <a:r>
              <a:rPr lang="en-US" dirty="0" smtClean="0"/>
              <a:t>The agent's full thinking - what tool it called, what it saw - we save that as a Trace in S3. That's our CCTV.</a:t>
            </a:r>
          </a:p>
          <a:p>
            <a:endParaRPr lang="en-US" dirty="0" smtClean="0"/>
          </a:p>
          <a:p>
            <a:r>
              <a:rPr lang="en-US" dirty="0" smtClean="0"/>
              <a:t>Then comes Scoring, and this is the smart part - we do it in two layers:</a:t>
            </a:r>
          </a:p>
          <a:p>
            <a:r>
              <a:rPr lang="en-US" dirty="0" smtClean="0"/>
              <a:t>Layer 1 - Rules - The cheap gatekeeper. No AI here. We just ask: Is the JSON valid? Did it exceed token budget? Does it have required parts? Like checking if a student wrote their index number before marking the essay. If it fails here, we throw it away immediately. Zero LLM cost.</a:t>
            </a:r>
          </a:p>
          <a:p>
            <a:endParaRPr lang="en-US" dirty="0" smtClean="0"/>
          </a:p>
          <a:p>
            <a:r>
              <a:rPr lang="en-US" dirty="0" smtClean="0"/>
              <a:t>Layer 2 - LLM Judge - The expensive teacher. Only the scripts that passed Layer 1 go to the LLM judge. </a:t>
            </a:r>
          </a:p>
          <a:p>
            <a:r>
              <a:rPr lang="en-US" dirty="0" smtClean="0"/>
              <a:t>And we use a different, bigger model than the agent – </a:t>
            </a:r>
          </a:p>
          <a:p>
            <a:endParaRPr lang="en-US" dirty="0" smtClean="0"/>
          </a:p>
          <a:p>
            <a:r>
              <a:rPr lang="en-US" dirty="0" smtClean="0"/>
              <a:t>Sonnet as student, Opus as teacher. This alone cuts your judge spend by 30-50%.Finally, all results go to </a:t>
            </a:r>
            <a:r>
              <a:rPr lang="en-US" dirty="0" err="1" smtClean="0"/>
              <a:t>DynamoDB</a:t>
            </a:r>
            <a:r>
              <a:rPr lang="en-US" dirty="0" smtClean="0"/>
              <a:t> - so you can track your agent's report card over time.</a:t>
            </a:r>
          </a:p>
          <a:p>
            <a:r>
              <a:rPr lang="en-US" dirty="0" smtClean="0"/>
              <a:t>Cheap first, expensive second. That's how you save money.</a:t>
            </a:r>
          </a:p>
          <a:p>
            <a:r>
              <a:rPr lang="en-US" dirty="0" smtClean="0"/>
              <a:t>"Pro tip to add: "In Accra terms - you don't call the senior doctor for every headache. Nurse checks temperature first. If serious, then doctor. Same logic."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Don't say "it failed".</a:t>
            </a:r>
          </a:p>
          <a:p>
            <a:r>
              <a:rPr lang="en-US" dirty="0" smtClean="0"/>
              <a:t>Find pattern like doctor in </a:t>
            </a:r>
            <a:r>
              <a:rPr lang="en-US" dirty="0" err="1" smtClean="0"/>
              <a:t>Korle</a:t>
            </a:r>
            <a:r>
              <a:rPr lang="en-US" dirty="0" smtClean="0"/>
              <a:t> Bu:</a:t>
            </a:r>
          </a:p>
          <a:p>
            <a:pPr marL="228600" indent="-228600">
              <a:buAutoNum type="alphaUcPeriod"/>
            </a:pPr>
            <a:r>
              <a:rPr lang="en-US" dirty="0" smtClean="0"/>
              <a:t>Same tool fails 80% -&gt; fix tool description.</a:t>
            </a:r>
          </a:p>
          <a:p>
            <a:pPr marL="228600" indent="-228600">
              <a:buAutoNum type="alphaUcPeriod"/>
            </a:pPr>
            <a:r>
              <a:rPr lang="en-US" dirty="0" smtClean="0"/>
              <a:t>One class fails -&gt; fix prompt or make specialist.</a:t>
            </a:r>
          </a:p>
          <a:p>
            <a:pPr marL="228600" indent="-228600">
              <a:buAutoNum type="alphaUcPeriod"/>
            </a:pPr>
            <a:r>
              <a:rPr lang="en-US" dirty="0" smtClean="0"/>
              <a:t>Huge tool calls -&gt; confused, remove overlapping tool</a:t>
            </a:r>
          </a:p>
          <a:p>
            <a:pPr marL="228600" indent="-228600">
              <a:buAutoNum type="alphaUcPeriod"/>
            </a:pPr>
            <a:r>
              <a:rPr lang="en-US" dirty="0" smtClean="0"/>
              <a:t>Random -&gt; task too big, break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"This is my favorite slide, because it proves you don't need a bigger model to get better results.</a:t>
            </a:r>
          </a:p>
          <a:p>
            <a:r>
              <a:rPr lang="en-US" dirty="0" smtClean="0"/>
              <a:t>We had this DevOps Companion agent. </a:t>
            </a:r>
          </a:p>
          <a:p>
            <a:r>
              <a:rPr lang="en-US" dirty="0" smtClean="0"/>
              <a:t>Its </a:t>
            </a:r>
            <a:r>
              <a:rPr lang="en-US" dirty="0" err="1" smtClean="0"/>
              <a:t>actionability</a:t>
            </a:r>
            <a:r>
              <a:rPr lang="en-US" dirty="0" smtClean="0"/>
              <a:t> - meaning, can someone actually use its answer - was only 60%. </a:t>
            </a:r>
          </a:p>
          <a:p>
            <a:r>
              <a:rPr lang="en-US" dirty="0" smtClean="0"/>
              <a:t>That's like 6 out of 10 riders in Accra actually delivering to the right house. Not good.</a:t>
            </a:r>
          </a:p>
          <a:p>
            <a:endParaRPr lang="en-US" dirty="0" smtClean="0"/>
          </a:p>
          <a:p>
            <a:r>
              <a:rPr lang="en-US" dirty="0" smtClean="0"/>
              <a:t>We did evaluation. We saw it was failing. We didn't change the model. We didn't rebuild. We added ONE instruction to the system prompt.</a:t>
            </a:r>
          </a:p>
          <a:p>
            <a:r>
              <a:rPr lang="en-US" dirty="0" smtClean="0"/>
              <a:t> Just one line.</a:t>
            </a:r>
          </a:p>
          <a:p>
            <a:r>
              <a:rPr lang="en-US" dirty="0" smtClean="0"/>
              <a:t>Look what </a:t>
            </a:r>
            <a:r>
              <a:rPr lang="en-US" dirty="0" err="1" smtClean="0"/>
              <a:t>happened:Actionability</a:t>
            </a:r>
            <a:r>
              <a:rPr lang="en-US" dirty="0" smtClean="0"/>
              <a:t> jumped 60% to 85%. Big purple number.</a:t>
            </a:r>
          </a:p>
          <a:p>
            <a:r>
              <a:rPr lang="en-US" dirty="0" smtClean="0"/>
              <a:t>Task completion 78% to 89%.</a:t>
            </a:r>
          </a:p>
          <a:p>
            <a:r>
              <a:rPr lang="en-US" dirty="0" smtClean="0"/>
              <a:t>Completeness 80% to 88%.</a:t>
            </a:r>
          </a:p>
          <a:p>
            <a:r>
              <a:rPr lang="en-US" dirty="0" smtClean="0"/>
              <a:t>And it even became more efficient - average tool calls dropped from 6.2 to 5.8. </a:t>
            </a:r>
          </a:p>
          <a:p>
            <a:r>
              <a:rPr lang="en-US" dirty="0" smtClean="0"/>
              <a:t>So it does better, using less.</a:t>
            </a:r>
          </a:p>
          <a:p>
            <a:r>
              <a:rPr lang="en-US" dirty="0" smtClean="0"/>
              <a:t>In Accra terms: Your </a:t>
            </a:r>
            <a:r>
              <a:rPr lang="en-US" dirty="0" err="1" smtClean="0"/>
              <a:t>trotro</a:t>
            </a:r>
            <a:r>
              <a:rPr lang="en-US" dirty="0" smtClean="0"/>
              <a:t> driver keeps missing the </a:t>
            </a:r>
            <a:r>
              <a:rPr lang="en-US" dirty="0" err="1" smtClean="0"/>
              <a:t>Kaneshie</a:t>
            </a:r>
            <a:r>
              <a:rPr lang="en-US" dirty="0" smtClean="0"/>
              <a:t> turn. You don't buy a new </a:t>
            </a:r>
            <a:r>
              <a:rPr lang="en-US" dirty="0" err="1" smtClean="0"/>
              <a:t>trotro</a:t>
            </a:r>
            <a:r>
              <a:rPr lang="en-US" dirty="0" smtClean="0"/>
              <a:t>. </a:t>
            </a:r>
          </a:p>
          <a:p>
            <a:r>
              <a:rPr lang="en-US" dirty="0" smtClean="0"/>
              <a:t>You just tell him one thing: 'When you see </a:t>
            </a:r>
            <a:r>
              <a:rPr lang="en-US" dirty="0" err="1" smtClean="0"/>
              <a:t>Melcom</a:t>
            </a:r>
            <a:r>
              <a:rPr lang="en-US" dirty="0" smtClean="0"/>
              <a:t>, turn right.' One instruction, problem solved.</a:t>
            </a:r>
          </a:p>
          <a:p>
            <a:endParaRPr lang="en-US" dirty="0" smtClean="0"/>
          </a:p>
          <a:p>
            <a:r>
              <a:rPr lang="en-US" dirty="0" smtClean="0"/>
              <a:t>That's the power of evaluation-driven development. You find the weakest spot, make ONE targeted change, re-run, and you see real improvement.</a:t>
            </a:r>
          </a:p>
          <a:p>
            <a:r>
              <a:rPr lang="en-US" dirty="0" smtClean="0"/>
              <a:t>You don't need magic. You need measurement."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router doesn't need a full reasoning loop — a single classification call is enough. The confidence score is what makes it safe.</a:t>
            </a:r>
          </a:p>
          <a:p>
            <a:endParaRPr lang="en-US" dirty="0" smtClean="0"/>
          </a:p>
          <a:p>
            <a:r>
              <a:rPr lang="en-US" dirty="0" smtClean="0"/>
              <a:t>"Okay, now we switch small - from evaluation to routing. But it's </a:t>
            </a:r>
            <a:r>
              <a:rPr lang="en-US" dirty="0" err="1" smtClean="0"/>
              <a:t>connected.Think</a:t>
            </a:r>
            <a:r>
              <a:rPr lang="en-US" dirty="0" smtClean="0"/>
              <a:t> of Ridge Hospital reception. Many patients come. One receptionist. She doesn't treat everyone. Her job is to classify: Is this emergency? Is this maternity? Is this lab? Then she sends you to the specialist. That's </a:t>
            </a:r>
            <a:r>
              <a:rPr lang="en-US" dirty="0" err="1" smtClean="0"/>
              <a:t>routing.Our</a:t>
            </a:r>
            <a:r>
              <a:rPr lang="en-US" dirty="0" smtClean="0"/>
              <a:t> agent should do same. </a:t>
            </a:r>
          </a:p>
          <a:p>
            <a:endParaRPr lang="en-US" dirty="0" smtClean="0"/>
          </a:p>
          <a:p>
            <a:r>
              <a:rPr lang="en-US" dirty="0" smtClean="0"/>
              <a:t>User request comes, we extract intent + entities. Like 'I want to cancel my ECG bill' - intent is cancel, entity is ECG bill.</a:t>
            </a:r>
          </a:p>
          <a:p>
            <a:endParaRPr lang="en-US" dirty="0" smtClean="0"/>
          </a:p>
          <a:p>
            <a:r>
              <a:rPr lang="en-US" dirty="0" smtClean="0"/>
              <a:t>Then we classify and give a confidence </a:t>
            </a:r>
            <a:r>
              <a:rPr lang="en-US" dirty="0" err="1" smtClean="0"/>
              <a:t>score.If</a:t>
            </a:r>
            <a:r>
              <a:rPr lang="en-US" dirty="0" smtClean="0"/>
              <a:t> confidence ≥ 0.75 - send to specialist. If &lt; 0.75 - send to fallback, human, don't guess. Because a wrong route is dangerous - specialist will burn tokens and give confident wrong answer.</a:t>
            </a:r>
          </a:p>
          <a:p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[19:00–22:00] LIVE DISAGREEMENT. 'Who'd set it HIGHER? LOWER?' Two people, 20 sec each. Land: 'Whatever your number, never let a low-confidence route proceed silently.' CUT POINT: first to go if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Star row is the default. 'Embedding routing on Bedrock Knowledge Bases is where most teams should start. Earn your way up the table.'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[22:00–24:00] SPICY TAKE. 'Hands up — who's added a self-correction loop to fix quality?' (hands) 'Keep them up if you tried the prompt FIRST.' (half drop) THEN reveal 70%. CALLBACK: 'Therapy for an agent that needed a better job description.'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narrate all six. 'Six credible options. The next slide picks for you.'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[24:00–26:00] 'One question decides it: what's your #1 constraint?' Point at the matching row. Don't read all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rapid-fire. These are the four ways the room is probably already getting it wrong. The judge activity covered #2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 PR gate is like a security guard at Circle. </a:t>
            </a:r>
          </a:p>
          <a:p>
            <a:endParaRPr lang="en-US" dirty="0" smtClean="0"/>
          </a:p>
          <a:p>
            <a:r>
              <a:rPr lang="en-US" dirty="0" smtClean="0"/>
              <a:t>If your agent is worse than before, the guard stops you from pushing bad code to production.</a:t>
            </a:r>
          </a:p>
          <a:p>
            <a:r>
              <a:rPr lang="en-US" dirty="0" smtClean="0"/>
              <a:t>In short: PR = asking to merge your code. </a:t>
            </a:r>
          </a:p>
          <a:p>
            <a:r>
              <a:rPr lang="en-US" dirty="0" smtClean="0"/>
              <a:t>Gating the PR = automatic test that says "no" if your agent got worse, so bad agents never reach customers.</a:t>
            </a:r>
          </a:p>
          <a:p>
            <a:r>
              <a:rPr lang="en-US" dirty="0" smtClean="0"/>
              <a:t>That's why it's the most important takeaway - it prevents silent rot.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[26:00–28:30] CLOSE on ONE behavior. 'If you do exactly one thing: gate the PR. Silent regression is how good agents rot.' Quotable. NEVER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[28:30–30:00] Q&amp;A buffer. Point to Module 4 and the repo. Close warm and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[28:30–30:00] Q&amp;A buffer. Point to Module 4 and the repo. Close warm and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974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0" y="45720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26B43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5856" y="576072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80176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61D26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BEFORE WE START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566928" y="1417320"/>
            <a:ext cx="6675120" cy="4663440"/>
          </a:xfrm>
          <a:prstGeom prst="roundRect">
            <a:avLst>
              <a:gd name="adj" fmla="val 1961"/>
            </a:avLst>
          </a:prstGeom>
          <a:solidFill>
            <a:srgbClr val="10151C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Text 5"/>
          <p:cNvSpPr/>
          <p:nvPr/>
        </p:nvSpPr>
        <p:spPr>
          <a:xfrm>
            <a:off x="932688" y="16733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B6C2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TASK   </a:t>
            </a:r>
            <a:r>
              <a:rPr lang="en-US" sz="1300" b="1" dirty="0">
                <a:solidFill>
                  <a:srgbClr val="FFFFFF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Deploy the service with its RDS backend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932688" y="2167128"/>
            <a:ext cx="5943600" cy="0"/>
          </a:xfrm>
          <a:prstGeom prst="line">
            <a:avLst/>
          </a:prstGeom>
          <a:noFill/>
          <a:ln w="12700">
            <a:solidFill>
              <a:srgbClr val="38475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Text 7"/>
          <p:cNvSpPr/>
          <p:nvPr/>
        </p:nvSpPr>
        <p:spPr>
          <a:xfrm>
            <a:off x="932688" y="2313432"/>
            <a:ext cx="5943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1  read_repo()        </a:t>
            </a:r>
            <a:r>
              <a:rPr lang="en-US" sz="1250" dirty="0">
                <a:solidFill>
                  <a:srgbClr val="AEB6C2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→ Dockerfile · no RDS config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26B43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2  “Repo provisions RDS in db_stack.ts —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26B43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    I'll point the service at its endpoint.”</a:t>
            </a:r>
            <a:r>
              <a:rPr lang="en-US" sz="1250" b="1" dirty="0">
                <a:solidFill>
                  <a:srgbClr val="E433FF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   invented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3  deploy_stack()      </a:t>
            </a:r>
            <a:r>
              <a:rPr lang="en-US" sz="1250" dirty="0">
                <a:solidFill>
                  <a:srgbClr val="00D6C7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→ success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✓  “Deployed. Connected to the existing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    RDS instance.”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589520" y="1874520"/>
            <a:ext cx="4069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It </a:t>
            </a:r>
            <a:r>
              <a:rPr lang="en-US" sz="44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passed</a:t>
            </a:r>
            <a:r>
              <a:rPr lang="en-US" sz="44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 our</a:t>
            </a:r>
            <a:endParaRPr lang="en-US" sz="4400" dirty="0"/>
          </a:p>
          <a:p>
            <a:pPr marL="0" indent="0">
              <a:lnSpc>
                <a:spcPct val="97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test suite.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7589520" y="3977640"/>
            <a:ext cx="4069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Right answer — reached through a step it made up. The suite never noticed. On a novel input, it falls apart.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57200"/>
            <a:ext cx="777240" cy="4647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 smtClean="0">
                <a:solidFill>
                  <a:srgbClr val="FFFFFF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Accra, Ghana </a:t>
            </a:r>
            <a:r>
              <a:rPr lang="en-US" sz="1400" b="1" kern="0" spc="300" dirty="0">
                <a:solidFill>
                  <a:srgbClr val="FFFFFF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|  2026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66928" y="274320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Agent evaluation</a:t>
            </a:r>
            <a:endParaRPr lang="en-US" sz="52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&amp; decision engines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566928" y="51480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smtClean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Adeline </a:t>
            </a:r>
            <a:r>
              <a:rPr lang="en-US" sz="1700" b="1" dirty="0" err="1" smtClean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Makokha</a:t>
            </a:r>
            <a:endParaRPr lang="en-US" sz="1700" b="1" dirty="0">
              <a:solidFill>
                <a:srgbClr val="FFFFFF"/>
              </a:solidFill>
              <a:latin typeface="Amazon Ember Display" pitchFamily="34" charset="0"/>
              <a:ea typeface="Amazon Ember Display" pitchFamily="34" charset="-122"/>
              <a:cs typeface="Amazon Ember Display" pitchFamily="34" charset="-120"/>
            </a:endParaRPr>
          </a:p>
          <a:p>
            <a:pPr marL="0" indent="0">
              <a:buNone/>
            </a:pPr>
            <a:endParaRPr lang="en-US" sz="1700" b="1" dirty="0" smtClean="0">
              <a:solidFill>
                <a:srgbClr val="FFFFFF"/>
              </a:solidFill>
              <a:latin typeface="Amazon Ember Display" pitchFamily="34" charset="0"/>
              <a:ea typeface="Amazon Ember Display" pitchFamily="34" charset="-122"/>
            </a:endParaRP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</a:rPr>
              <a:t>Software Quality Engineer –</a:t>
            </a:r>
            <a:r>
              <a:rPr lang="en-US" sz="1700" b="1" dirty="0" err="1" smtClean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</a:rPr>
              <a:t>Safaricom</a:t>
            </a:r>
            <a:r>
              <a:rPr lang="en-US" sz="1700" b="1" dirty="0" smtClean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</a:rPr>
              <a:t> PLC</a:t>
            </a:r>
          </a:p>
          <a:p>
            <a:pPr marL="0" indent="0">
              <a:buNone/>
            </a:pPr>
            <a:endParaRPr lang="en-US" sz="1700" b="1" dirty="0">
              <a:solidFill>
                <a:srgbClr val="FFFFFF"/>
              </a:solidFill>
              <a:latin typeface="Amazon Ember Display" pitchFamily="34" charset="0"/>
              <a:ea typeface="Amazon Ember Display" pitchFamily="34" charset="-122"/>
            </a:endParaRP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</a:rPr>
              <a:t>AWS Hero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</a:rPr>
              <a:t>AWS  User </a:t>
            </a:r>
            <a:r>
              <a:rPr lang="en-US" sz="1700" b="1" smtClean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</a:rPr>
              <a:t>Group Leader</a:t>
            </a:r>
            <a:endParaRPr lang="en-US" sz="1700" b="1" dirty="0">
              <a:solidFill>
                <a:srgbClr val="FFFFFF"/>
              </a:solidFill>
              <a:latin typeface="Amazon Ember Display" pitchFamily="34" charset="0"/>
              <a:ea typeface="Amazon Ember Display" pitchFamily="34" charset="-122"/>
            </a:endParaRPr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3A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Building Agentic Systems on AWS · Module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433FF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ROADMAP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1645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Where we're headed.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2588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The four evaluation dimensions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40080" y="311810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25880" y="31181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Designing your test dataset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40080" y="390448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325880" y="39044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LLM-as-judge: scalable automated scoring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40080" y="46908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325880" y="46908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Operational, safety &amp; reliability metrics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40080" y="547725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05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325880" y="547725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Building the evaluation pipeline on AWS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6217920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06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90372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Evaluation-driven development cycle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217920" y="311810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07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903720" y="31181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Reading failures — turning bad results into fixes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6217920" y="390448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08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903720" y="39044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Routing agents &amp; decision patterns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217920" y="46908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09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903720" y="46908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The evaluation tooling landscape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6217920" y="547725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10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6903720" y="547725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Anti-patterns &amp; key takeaways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433FF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WHERE THIS FITS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1645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13 domains to production. Today, two of them.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66928" y="2468880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5"/>
          <p:cNvSpPr/>
          <p:nvPr/>
        </p:nvSpPr>
        <p:spPr>
          <a:xfrm>
            <a:off x="795528" y="2697480"/>
            <a:ext cx="109728" cy="109728"/>
          </a:xfrm>
          <a:prstGeom prst="ellipse">
            <a:avLst/>
          </a:prstGeom>
          <a:solidFill>
            <a:srgbClr val="AEB6C2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9" name="Text 6"/>
          <p:cNvSpPr/>
          <p:nvPr/>
        </p:nvSpPr>
        <p:spPr>
          <a:xfrm>
            <a:off x="1024128" y="24688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Agent Reasoning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82112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27313F"/>
          </a:solidFill>
          <a:ln w="17780">
            <a:solidFill>
              <a:srgbClr val="E433FF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1" name="Shape 8"/>
          <p:cNvSpPr/>
          <p:nvPr/>
        </p:nvSpPr>
        <p:spPr>
          <a:xfrm>
            <a:off x="795528" y="3410712"/>
            <a:ext cx="109728" cy="109728"/>
          </a:xfrm>
          <a:prstGeom prst="ellipse">
            <a:avLst/>
          </a:prstGeom>
          <a:solidFill>
            <a:srgbClr val="E433F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2" name="Text 9"/>
          <p:cNvSpPr/>
          <p:nvPr/>
        </p:nvSpPr>
        <p:spPr>
          <a:xfrm>
            <a:off x="1024128" y="318211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Evaluation &amp; Experimentation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66928" y="3895344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27313F"/>
          </a:solidFill>
          <a:ln w="17780">
            <a:solidFill>
              <a:srgbClr val="F26B43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795528" y="4123944"/>
            <a:ext cx="109728" cy="109728"/>
          </a:xfrm>
          <a:prstGeom prst="ellipse">
            <a:avLst/>
          </a:prstGeom>
          <a:solidFill>
            <a:srgbClr val="F26B43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5" name="Text 12"/>
          <p:cNvSpPr/>
          <p:nvPr/>
        </p:nvSpPr>
        <p:spPr>
          <a:xfrm>
            <a:off x="1024128" y="389534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Agent Routing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66928" y="4608576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7" name="Shape 14"/>
          <p:cNvSpPr/>
          <p:nvPr/>
        </p:nvSpPr>
        <p:spPr>
          <a:xfrm>
            <a:off x="795528" y="4837176"/>
            <a:ext cx="109728" cy="109728"/>
          </a:xfrm>
          <a:prstGeom prst="ellipse">
            <a:avLst/>
          </a:prstGeom>
          <a:solidFill>
            <a:srgbClr val="AEB6C2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8" name="Text 15"/>
          <p:cNvSpPr/>
          <p:nvPr/>
        </p:nvSpPr>
        <p:spPr>
          <a:xfrm>
            <a:off x="1024128" y="460857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Tools &amp; Integration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66928" y="5321808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Shape 17"/>
          <p:cNvSpPr/>
          <p:nvPr/>
        </p:nvSpPr>
        <p:spPr>
          <a:xfrm>
            <a:off x="795528" y="5550408"/>
            <a:ext cx="109728" cy="109728"/>
          </a:xfrm>
          <a:prstGeom prst="ellipse">
            <a:avLst/>
          </a:prstGeom>
          <a:solidFill>
            <a:srgbClr val="AEB6C2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21" name="Text 18"/>
          <p:cNvSpPr/>
          <p:nvPr/>
        </p:nvSpPr>
        <p:spPr>
          <a:xfrm>
            <a:off x="1024128" y="53218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Orchestration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270248" y="2468880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3" name="Shape 20"/>
          <p:cNvSpPr/>
          <p:nvPr/>
        </p:nvSpPr>
        <p:spPr>
          <a:xfrm>
            <a:off x="4498848" y="2697480"/>
            <a:ext cx="109728" cy="109728"/>
          </a:xfrm>
          <a:prstGeom prst="ellipse">
            <a:avLst/>
          </a:prstGeom>
          <a:solidFill>
            <a:srgbClr val="AEB6C2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24" name="Text 21"/>
          <p:cNvSpPr/>
          <p:nvPr/>
        </p:nvSpPr>
        <p:spPr>
          <a:xfrm>
            <a:off x="4727448" y="24688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Memory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4270248" y="3182112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6" name="Shape 23"/>
          <p:cNvSpPr/>
          <p:nvPr/>
        </p:nvSpPr>
        <p:spPr>
          <a:xfrm>
            <a:off x="4498848" y="3410712"/>
            <a:ext cx="109728" cy="109728"/>
          </a:xfrm>
          <a:prstGeom prst="ellipse">
            <a:avLst/>
          </a:prstGeom>
          <a:solidFill>
            <a:srgbClr val="AEB6C2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27" name="Text 24"/>
          <p:cNvSpPr/>
          <p:nvPr/>
        </p:nvSpPr>
        <p:spPr>
          <a:xfrm>
            <a:off x="4727448" y="318211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Secure Identity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4270248" y="3895344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9" name="Shape 26"/>
          <p:cNvSpPr/>
          <p:nvPr/>
        </p:nvSpPr>
        <p:spPr>
          <a:xfrm>
            <a:off x="4498848" y="4123944"/>
            <a:ext cx="109728" cy="109728"/>
          </a:xfrm>
          <a:prstGeom prst="ellipse">
            <a:avLst/>
          </a:prstGeom>
          <a:solidFill>
            <a:srgbClr val="AEB6C2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0" name="Text 27"/>
          <p:cNvSpPr/>
          <p:nvPr/>
        </p:nvSpPr>
        <p:spPr>
          <a:xfrm>
            <a:off x="4727448" y="389534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Data &amp; Retrieval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4270248" y="4608576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2" name="Shape 29"/>
          <p:cNvSpPr/>
          <p:nvPr/>
        </p:nvSpPr>
        <p:spPr>
          <a:xfrm>
            <a:off x="4498848" y="4837176"/>
            <a:ext cx="109728" cy="109728"/>
          </a:xfrm>
          <a:prstGeom prst="ellipse">
            <a:avLst/>
          </a:prstGeom>
          <a:solidFill>
            <a:srgbClr val="AEB6C2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3" name="Text 30"/>
          <p:cNvSpPr/>
          <p:nvPr/>
        </p:nvSpPr>
        <p:spPr>
          <a:xfrm>
            <a:off x="4727448" y="460857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Deployment Lifecycle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4270248" y="5321808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5" name="Shape 32"/>
          <p:cNvSpPr/>
          <p:nvPr/>
        </p:nvSpPr>
        <p:spPr>
          <a:xfrm>
            <a:off x="4498848" y="5550408"/>
            <a:ext cx="109728" cy="109728"/>
          </a:xfrm>
          <a:prstGeom prst="ellipse">
            <a:avLst/>
          </a:prstGeom>
          <a:solidFill>
            <a:srgbClr val="AEB6C2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6" name="Text 33"/>
          <p:cNvSpPr/>
          <p:nvPr/>
        </p:nvSpPr>
        <p:spPr>
          <a:xfrm>
            <a:off x="4727448" y="53218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Observability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7973568" y="2468880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8" name="Shape 35"/>
          <p:cNvSpPr/>
          <p:nvPr/>
        </p:nvSpPr>
        <p:spPr>
          <a:xfrm>
            <a:off x="8202168" y="2697480"/>
            <a:ext cx="109728" cy="109728"/>
          </a:xfrm>
          <a:prstGeom prst="ellipse">
            <a:avLst/>
          </a:prstGeom>
          <a:solidFill>
            <a:srgbClr val="AEB6C2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9" name="Text 36"/>
          <p:cNvSpPr/>
          <p:nvPr/>
        </p:nvSpPr>
        <p:spPr>
          <a:xfrm>
            <a:off x="8430768" y="24688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Security Hardening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7973568" y="3182112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1" name="Shape 38"/>
          <p:cNvSpPr/>
          <p:nvPr/>
        </p:nvSpPr>
        <p:spPr>
          <a:xfrm>
            <a:off x="8202168" y="3410712"/>
            <a:ext cx="109728" cy="109728"/>
          </a:xfrm>
          <a:prstGeom prst="ellipse">
            <a:avLst/>
          </a:prstGeom>
          <a:solidFill>
            <a:srgbClr val="AEB6C2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2" name="Text 39"/>
          <p:cNvSpPr/>
          <p:nvPr/>
        </p:nvSpPr>
        <p:spPr>
          <a:xfrm>
            <a:off x="8430768" y="318211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Guardrails &amp; Safety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7973568" y="3895344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4" name="Shape 41"/>
          <p:cNvSpPr/>
          <p:nvPr/>
        </p:nvSpPr>
        <p:spPr>
          <a:xfrm>
            <a:off x="8202168" y="4123944"/>
            <a:ext cx="109728" cy="109728"/>
          </a:xfrm>
          <a:prstGeom prst="ellipse">
            <a:avLst/>
          </a:prstGeom>
          <a:solidFill>
            <a:srgbClr val="AEB6C2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5" name="Text 42"/>
          <p:cNvSpPr/>
          <p:nvPr/>
        </p:nvSpPr>
        <p:spPr>
          <a:xfrm>
            <a:off x="8430768" y="389534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Scaling &amp; Cost Governance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566928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This module lives in Evaluation &amp; Experimentation, with a turn through Agent Routing.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433FF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THE SCOREBOARD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1645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Four things to measure. Every time.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66928" y="2697480"/>
            <a:ext cx="2679192" cy="3291840"/>
          </a:xfrm>
          <a:prstGeom prst="roundRect">
            <a:avLst>
              <a:gd name="adj" fmla="val 3072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5"/>
          <p:cNvSpPr/>
          <p:nvPr/>
        </p:nvSpPr>
        <p:spPr>
          <a:xfrm>
            <a:off x="859536" y="3017520"/>
            <a:ext cx="749808" cy="749808"/>
          </a:xfrm>
          <a:prstGeom prst="ellipse">
            <a:avLst/>
          </a:prstGeom>
          <a:solidFill>
            <a:srgbClr val="27313F"/>
          </a:solidFill>
          <a:ln w="19050">
            <a:solidFill>
              <a:srgbClr val="00D6C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20954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09928" y="299008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859536" y="4023360"/>
            <a:ext cx="209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Task completion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59536" y="4754880"/>
            <a:ext cx="20939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Did it achieve the goal? Pass / fail, or graded partial credit.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511296" y="2697480"/>
            <a:ext cx="2679192" cy="3291840"/>
          </a:xfrm>
          <a:prstGeom prst="roundRect">
            <a:avLst>
              <a:gd name="adj" fmla="val 3072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0"/>
          <p:cNvSpPr/>
          <p:nvPr/>
        </p:nvSpPr>
        <p:spPr>
          <a:xfrm>
            <a:off x="3803904" y="3017520"/>
            <a:ext cx="749808" cy="749808"/>
          </a:xfrm>
          <a:prstGeom prst="ellipse">
            <a:avLst/>
          </a:prstGeom>
          <a:solidFill>
            <a:srgbClr val="27313F"/>
          </a:solidFill>
          <a:ln w="19050">
            <a:solidFill>
              <a:srgbClr val="E433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5928" y="3209544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54296" y="299008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2</a:t>
            </a:r>
            <a:endParaRPr lang="en-US" sz="4000" dirty="0"/>
          </a:p>
        </p:txBody>
      </p:sp>
      <p:sp>
        <p:nvSpPr>
          <p:cNvPr id="17" name="Text 12"/>
          <p:cNvSpPr/>
          <p:nvPr/>
        </p:nvSpPr>
        <p:spPr>
          <a:xfrm>
            <a:off x="3803904" y="4023360"/>
            <a:ext cx="209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Reasoning quality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3803904" y="4754880"/>
            <a:ext cx="20939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 sound path — or the right answer through a lucky, made-up step?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455664" y="2697480"/>
            <a:ext cx="2679192" cy="3291840"/>
          </a:xfrm>
          <a:prstGeom prst="roundRect">
            <a:avLst>
              <a:gd name="adj" fmla="val 3072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Shape 15"/>
          <p:cNvSpPr/>
          <p:nvPr/>
        </p:nvSpPr>
        <p:spPr>
          <a:xfrm>
            <a:off x="6748272" y="3017520"/>
            <a:ext cx="749808" cy="749808"/>
          </a:xfrm>
          <a:prstGeom prst="ellipse">
            <a:avLst/>
          </a:prstGeom>
          <a:solidFill>
            <a:srgbClr val="27313F"/>
          </a:solidFill>
          <a:ln w="19050">
            <a:solidFill>
              <a:srgbClr val="F26B4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296" y="320954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98664" y="299008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3</a:t>
            </a:r>
            <a:endParaRPr lang="en-US" sz="4000" dirty="0"/>
          </a:p>
        </p:txBody>
      </p:sp>
      <p:sp>
        <p:nvSpPr>
          <p:cNvPr id="23" name="Text 17"/>
          <p:cNvSpPr/>
          <p:nvPr/>
        </p:nvSpPr>
        <p:spPr>
          <a:xfrm>
            <a:off x="6748272" y="4023360"/>
            <a:ext cx="209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Operational metrics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748272" y="4754880"/>
            <a:ext cx="20939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Latency, cost per task, tool-call count, loop iterations.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9400032" y="2697480"/>
            <a:ext cx="2679192" cy="3291840"/>
          </a:xfrm>
          <a:prstGeom prst="roundRect">
            <a:avLst>
              <a:gd name="adj" fmla="val 3072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6" name="Shape 20"/>
          <p:cNvSpPr/>
          <p:nvPr/>
        </p:nvSpPr>
        <p:spPr>
          <a:xfrm>
            <a:off x="9692640" y="3017520"/>
            <a:ext cx="749808" cy="749808"/>
          </a:xfrm>
          <a:prstGeom prst="ellipse">
            <a:avLst/>
          </a:prstGeom>
          <a:solidFill>
            <a:srgbClr val="27313F"/>
          </a:solidFill>
          <a:ln w="19050">
            <a:solidFill>
              <a:srgbClr val="007D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4664" y="3209544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543032" y="299008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007D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4</a:t>
            </a:r>
            <a:endParaRPr lang="en-US" sz="4000" dirty="0"/>
          </a:p>
        </p:txBody>
      </p:sp>
      <p:sp>
        <p:nvSpPr>
          <p:cNvPr id="29" name="Text 22"/>
          <p:cNvSpPr/>
          <p:nvPr/>
        </p:nvSpPr>
        <p:spPr>
          <a:xfrm>
            <a:off x="9692640" y="4023360"/>
            <a:ext cx="209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Safety &amp; reliability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9692640" y="4754880"/>
            <a:ext cx="20939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Did it stay inside its boundaries? Guardrails, recovery, timeout.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433FF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TASK COMPLETION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1645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Three ways to score it — by task complexity.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66928" y="260604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Text 5"/>
          <p:cNvSpPr/>
          <p:nvPr/>
        </p:nvSpPr>
        <p:spPr>
          <a:xfrm>
            <a:off x="886968" y="2926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Binary pass/fail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86968" y="379476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For a single correct output — “did the CDK stack deploy?” Deterministic, cheap, fast to run.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270248" y="260604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1" name="Text 8"/>
          <p:cNvSpPr/>
          <p:nvPr/>
        </p:nvSpPr>
        <p:spPr>
          <a:xfrm>
            <a:off x="4590288" y="2926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Partial-credit scoring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590288" y="379476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Score 0–5 on defined criteria when many valid outputs exist. Needs a rubric + an LLM judge. Open-ended reports.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973568" y="260604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Text 11"/>
          <p:cNvSpPr/>
          <p:nvPr/>
        </p:nvSpPr>
        <p:spPr>
          <a:xfrm>
            <a:off x="8293608" y="2926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Human spot check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293608" y="379476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Calibrates the LLM judge. Sample 10% of outputs, have a domain expert score them, use divergence to catch judge drift.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66928" y="548640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27313F"/>
          </a:solidFill>
          <a:ln w="15240">
            <a:solidFill>
              <a:srgbClr val="AB0071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7" name="Text 14"/>
          <p:cNvSpPr/>
          <p:nvPr/>
        </p:nvSpPr>
        <p:spPr>
          <a:xfrm>
            <a:off x="868680" y="5486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Marketplace pick:  </a:t>
            </a:r>
            <a:r>
              <a:rPr lang="en-US" sz="140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Patronus AI — custom evaluation criteria and regression tracking across agent versions, ideal when your output format keeps evolving.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7DFF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TEST DATASETS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1645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Design for what goes wrong, not what works.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66928" y="2514600"/>
            <a:ext cx="5349240" cy="2788920"/>
          </a:xfrm>
          <a:prstGeom prst="roundRect">
            <a:avLst>
              <a:gd name="adj" fmla="val 2951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DFF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THREE REQUIRED COMPONENTS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31089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Input goals</a:t>
            </a:r>
            <a:endParaRPr lang="en-US" sz="1500" dirty="0"/>
          </a:p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The tasks to complete — common, edge, and adversarial.</a:t>
            </a:r>
            <a:endParaRPr lang="en-US" sz="1500" dirty="0"/>
          </a:p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Expected outputs</a:t>
            </a:r>
            <a:endParaRPr lang="en-US" sz="1500" dirty="0"/>
          </a:p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What a correct response looks like, as conditions.</a:t>
            </a:r>
            <a:endParaRPr lang="en-US" sz="1500" dirty="0"/>
          </a:p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Evaluation criteria</a:t>
            </a:r>
            <a:endParaRPr lang="en-US" sz="1500" dirty="0"/>
          </a:p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The rubric per pair — binary or scored 1–5.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63640" y="2514600"/>
            <a:ext cx="5349240" cy="2788920"/>
          </a:xfrm>
          <a:prstGeom prst="roundRect">
            <a:avLst>
              <a:gd name="adj" fmla="val 2951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1" name="Text 8"/>
          <p:cNvSpPr/>
          <p:nvPr/>
        </p:nvSpPr>
        <p:spPr>
          <a:xfrm>
            <a:off x="6565392" y="2697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433FF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FIVE INPUT CATEGORIES TO COVER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65392" y="315468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Basic cases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Complex multi-service dependencies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Existing IaC the agent must read &amp; extend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Ambiguous / conflicting configuration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Security edge cases — creds, broad IAM, no encryption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66928" y="548640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27313F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Text 11"/>
          <p:cNvSpPr/>
          <p:nvPr/>
        </p:nvSpPr>
        <p:spPr>
          <a:xfrm>
            <a:off x="868680" y="5486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Recommendation:  </a:t>
            </a:r>
            <a:r>
              <a:rPr lang="en-US" sz="140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Start with 20–50 high-quality examples. Overweight known failure modes 3–5×. Version the dataset in S3 — it's code.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7263079" y="457200"/>
            <a:ext cx="4361688" cy="457200"/>
          </a:xfrm>
          <a:prstGeom prst="roundRect">
            <a:avLst>
              <a:gd name="adj" fmla="val 50000"/>
            </a:avLst>
          </a:prstGeom>
          <a:solidFill>
            <a:srgbClr val="E433FF"/>
          </a:solidFill>
          <a:ln/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2535" y="576072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38567" y="457200"/>
            <a:ext cx="3813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161D26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DO THIS LIVE · FINGERS 1–5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66928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You're the judge.</a:t>
            </a:r>
            <a:endParaRPr lang="en-US" sz="3200" dirty="0"/>
          </a:p>
        </p:txBody>
      </p:sp>
      <p:sp>
        <p:nvSpPr>
          <p:cNvPr id="9" name="Shape 5"/>
          <p:cNvSpPr/>
          <p:nvPr/>
        </p:nvSpPr>
        <p:spPr>
          <a:xfrm>
            <a:off x="566928" y="1783080"/>
            <a:ext cx="7315200" cy="4526280"/>
          </a:xfrm>
          <a:prstGeom prst="roundRect">
            <a:avLst>
              <a:gd name="adj" fmla="val 2020"/>
            </a:avLst>
          </a:prstGeom>
          <a:solidFill>
            <a:srgbClr val="10151C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0" name="Text 6"/>
          <p:cNvSpPr/>
          <p:nvPr/>
        </p:nvSpPr>
        <p:spPr>
          <a:xfrm>
            <a:off x="932688" y="203911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B6C2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TASK   </a:t>
            </a:r>
            <a:r>
              <a:rPr lang="en-US" sz="1300" b="1" dirty="0">
                <a:solidFill>
                  <a:srgbClr val="FFFFFF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Add encryption to the S3 bucket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32688" y="2532888"/>
            <a:ext cx="6583680" cy="0"/>
          </a:xfrm>
          <a:prstGeom prst="line">
            <a:avLst/>
          </a:prstGeom>
          <a:noFill/>
          <a:ln w="12700">
            <a:solidFill>
              <a:srgbClr val="38475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2" name="Text 8"/>
          <p:cNvSpPr/>
          <p:nvPr/>
        </p:nvSpPr>
        <p:spPr>
          <a:xfrm>
            <a:off x="932688" y="2679192"/>
            <a:ext cx="65836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1  read_stack()   </a:t>
            </a:r>
            <a:r>
              <a:rPr lang="en-US" sz="1250" dirty="0">
                <a:solidFill>
                  <a:srgbClr val="AEB6C2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→ s3.ts · bucket, no encryption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2  “Bucket isn't encrypted. Add SSE-KMS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    with the account default key.”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3  web_search(“S3 default encryption CDK”)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4  edit_file(s3.ts) </a:t>
            </a:r>
            <a:r>
              <a:rPr lang="en-US" sz="1250" dirty="0">
                <a:solidFill>
                  <a:srgbClr val="00D6C7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→ KMS_MANAGED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26B43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5  “AWS encrypts every bucket by default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26B43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    now, so this is redundant anyway.”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✓  “Added KMS-managed encryption.”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56448" y="1783080"/>
            <a:ext cx="3456432" cy="4526280"/>
          </a:xfrm>
          <a:prstGeom prst="roundRect">
            <a:avLst>
              <a:gd name="adj" fmla="val 2381"/>
            </a:avLst>
          </a:prstGeom>
          <a:solidFill>
            <a:srgbClr val="27313F"/>
          </a:solidFill>
          <a:ln w="12700">
            <a:solidFill>
              <a:srgbClr val="27313F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Text 10"/>
          <p:cNvSpPr/>
          <p:nvPr/>
        </p:nvSpPr>
        <p:spPr>
          <a:xfrm>
            <a:off x="8375904" y="2468880"/>
            <a:ext cx="566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1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8988552" y="2468880"/>
            <a:ext cx="566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2</a:t>
            </a:r>
            <a:endParaRPr lang="en-US" sz="3600" dirty="0"/>
          </a:p>
        </p:txBody>
      </p:sp>
      <p:sp>
        <p:nvSpPr>
          <p:cNvPr id="16" name="Text 12"/>
          <p:cNvSpPr/>
          <p:nvPr/>
        </p:nvSpPr>
        <p:spPr>
          <a:xfrm>
            <a:off x="9601200" y="2468880"/>
            <a:ext cx="566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10213848" y="2468880"/>
            <a:ext cx="566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4</a:t>
            </a:r>
            <a:endParaRPr lang="en-US" sz="3600" dirty="0"/>
          </a:p>
        </p:txBody>
      </p:sp>
      <p:sp>
        <p:nvSpPr>
          <p:cNvPr id="18" name="Text 14"/>
          <p:cNvSpPr/>
          <p:nvPr/>
        </p:nvSpPr>
        <p:spPr>
          <a:xfrm>
            <a:off x="10826496" y="2468880"/>
            <a:ext cx="566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5</a:t>
            </a:r>
            <a:endParaRPr lang="en-US" sz="3600" dirty="0"/>
          </a:p>
        </p:txBody>
      </p:sp>
      <p:sp>
        <p:nvSpPr>
          <p:cNvPr id="19" name="Text 15"/>
          <p:cNvSpPr/>
          <p:nvPr/>
        </p:nvSpPr>
        <p:spPr>
          <a:xfrm>
            <a:off x="8321040" y="3703320"/>
            <a:ext cx="31272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Score it. Fingers up.</a:t>
            </a:r>
            <a:endParaRPr lang="en-US" sz="2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No abstaining.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8321040" y="525780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(5 = clean · 1 = disconnected from results)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058607" y="45720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F26B43"/>
          </a:solidFill>
          <a:ln/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063" y="576072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34095" y="457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161D26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WATCH SCORES TIGHTEN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66928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Same trace. Two rubrics.</a:t>
            </a:r>
            <a:endParaRPr lang="en-US" sz="3200" dirty="0"/>
          </a:p>
        </p:txBody>
      </p:sp>
      <p:sp>
        <p:nvSpPr>
          <p:cNvPr id="9" name="Shape 5"/>
          <p:cNvSpPr/>
          <p:nvPr/>
        </p:nvSpPr>
        <p:spPr>
          <a:xfrm>
            <a:off x="566928" y="187452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2A1B22"/>
          </a:solidFill>
          <a:ln w="16510">
            <a:solidFill>
              <a:srgbClr val="F26B43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0" name="Text 6"/>
          <p:cNvSpPr/>
          <p:nvPr/>
        </p:nvSpPr>
        <p:spPr>
          <a:xfrm>
            <a:off x="886968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B43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VAGUE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86968" y="248716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“Is this a good response?”</a:t>
            </a:r>
            <a:endParaRPr lang="en-US" sz="2500" dirty="0"/>
          </a:p>
        </p:txBody>
      </p:sp>
      <p:sp>
        <p:nvSpPr>
          <p:cNvPr id="12" name="Text 8"/>
          <p:cNvSpPr/>
          <p:nvPr/>
        </p:nvSpPr>
        <p:spPr>
          <a:xfrm>
            <a:off x="886968" y="333756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Scores land all over the map — 2s next to 5s. Everyone is right, so the number tells you nothing.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236208" y="187452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0E2422"/>
          </a:solidFill>
          <a:ln w="16510">
            <a:solidFill>
              <a:srgbClr val="00D6C7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Text 10"/>
          <p:cNvSpPr/>
          <p:nvPr/>
        </p:nvSpPr>
        <p:spPr>
          <a:xfrm>
            <a:off x="6556248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6C7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GROUNDED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56248" y="2487168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Adds a valid encryption block?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Every claim traceable to a tool result?</a:t>
            </a:r>
            <a:endParaRPr lang="en-US" sz="16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Tool parameters well-formed?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6556248" y="43708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i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Scores converge. Now you can act on the number.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566928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And never let the agent grade itself.   </a:t>
            </a:r>
            <a:r>
              <a:rPr lang="en-US" sz="19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Sonnet as agent  →  Opus as judge.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433FF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REASONING QUALITY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1645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Four things to check in every trace.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66928" y="260604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Text 5"/>
          <p:cNvSpPr/>
          <p:nvPr/>
        </p:nvSpPr>
        <p:spPr>
          <a:xfrm>
            <a:off x="859536" y="278892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618488" y="28072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Correct tool sequence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618488" y="326440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Right order? A wrong sequence usually means the agent is guessing, not reasoning.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17920" y="260604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2" name="Text 9"/>
          <p:cNvSpPr/>
          <p:nvPr/>
        </p:nvSpPr>
        <p:spPr>
          <a:xfrm>
            <a:off x="6510528" y="278892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7269480" y="28072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Evidence-grounded reasoning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269480" y="326440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Does the reasoning account for the tool results it got? Ignoring them is a hallucination precursor.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66928" y="4233672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6" name="Text 13"/>
          <p:cNvSpPr/>
          <p:nvPr/>
        </p:nvSpPr>
        <p:spPr>
          <a:xfrm>
            <a:off x="859536" y="4416552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3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1618488" y="4434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Valid tool parameters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618488" y="489204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Arguments well-formed and sensible? Invalid params reveal ambiguity in the tool description.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17920" y="4233672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Text 17"/>
          <p:cNvSpPr/>
          <p:nvPr/>
        </p:nvSpPr>
        <p:spPr>
          <a:xfrm>
            <a:off x="6510528" y="4416552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7D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7269480" y="4434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No unsupported claims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7269480" y="489204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Every factual assertion traceable to context? Claims not in the trace are hallucinations.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66928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At scale:  </a:t>
            </a:r>
            <a:r>
              <a:rPr lang="en-US" sz="13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LangSmith &amp; LangFuse give per-step trace UIs; Deepchecks automates hallucination detection in the pipeline.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433FF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LLM-AS-JUDGE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1645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Design rules, and the rubric they produce.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66928" y="2468880"/>
            <a:ext cx="5212080" cy="3657600"/>
          </a:xfrm>
          <a:prstGeom prst="roundRect">
            <a:avLst>
              <a:gd name="adj" fmla="val 2250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433FF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CRITICAL DESIGN RULES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306324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Use a different model as judge</a:t>
            </a:r>
            <a:endParaRPr lang="en-US" sz="145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Sonnet as agent + Opus as judge. Never the same version.</a:t>
            </a:r>
            <a:endParaRPr lang="en-US" sz="145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Ground the rubric in observable evidence</a:t>
            </a:r>
            <a:endParaRPr lang="en-US" sz="145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“Valid VPC CIDR block?” beats “is this good?”</a:t>
            </a:r>
            <a:endParaRPr lang="en-US" sz="145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Require a rationale</a:t>
            </a:r>
            <a:endParaRPr lang="en-US" sz="145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2–3 sentences reveal when the judge is confused.</a:t>
            </a:r>
            <a:endParaRPr lang="en-US" sz="145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Calibrate with humans</a:t>
            </a:r>
            <a:endParaRPr lang="en-US" sz="145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Spot-check 10% quarterly; recalibrate if divergence &gt; 15%.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263640" y="2651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D6C7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EXAMPLE RUBRIC — REASONING QUALITY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3063240"/>
            <a:ext cx="5349240" cy="521208"/>
          </a:xfrm>
          <a:prstGeom prst="roundRect">
            <a:avLst>
              <a:gd name="adj" fmla="val 15789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2" name="Text 9"/>
          <p:cNvSpPr/>
          <p:nvPr/>
        </p:nvSpPr>
        <p:spPr>
          <a:xfrm>
            <a:off x="6355080" y="306324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5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949440" y="3063240"/>
            <a:ext cx="4572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All tool calls correct. Reasoning accounts for every result. No unsupported claims.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3657600"/>
            <a:ext cx="5349240" cy="521208"/>
          </a:xfrm>
          <a:prstGeom prst="roundRect">
            <a:avLst>
              <a:gd name="adj" fmla="val 15789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Text 12"/>
          <p:cNvSpPr/>
          <p:nvPr/>
        </p:nvSpPr>
        <p:spPr>
          <a:xfrm>
            <a:off x="6355080" y="365760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D17A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949440" y="3657600"/>
            <a:ext cx="4572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Minor param issue in ≤1 call. Reasoning mostly accounts. ≤1 unsupported claim.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63640" y="4251960"/>
            <a:ext cx="5349240" cy="521208"/>
          </a:xfrm>
          <a:prstGeom prst="roundRect">
            <a:avLst>
              <a:gd name="adj" fmla="val 15789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8" name="Text 15"/>
          <p:cNvSpPr/>
          <p:nvPr/>
        </p:nvSpPr>
        <p:spPr>
          <a:xfrm>
            <a:off x="6355080" y="425196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949440" y="4251960"/>
            <a:ext cx="4572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Param issues in ≤2 calls, or reasoning partially ignores results.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4846320"/>
            <a:ext cx="5349240" cy="521208"/>
          </a:xfrm>
          <a:prstGeom prst="roundRect">
            <a:avLst>
              <a:gd name="adj" fmla="val 15789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1" name="Text 18"/>
          <p:cNvSpPr/>
          <p:nvPr/>
        </p:nvSpPr>
        <p:spPr>
          <a:xfrm>
            <a:off x="6355080" y="484632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944B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2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949440" y="4846320"/>
            <a:ext cx="4572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Significant param errors, or reasoning ignores outputs in multiple steps.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5440680"/>
            <a:ext cx="5349240" cy="521208"/>
          </a:xfrm>
          <a:prstGeom prst="roundRect">
            <a:avLst>
              <a:gd name="adj" fmla="val 15789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4" name="Text 21"/>
          <p:cNvSpPr/>
          <p:nvPr/>
        </p:nvSpPr>
        <p:spPr>
          <a:xfrm>
            <a:off x="6355080" y="544068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1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6949440" y="5440680"/>
            <a:ext cx="4572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Tool calls invalid / absent, or reasoning entirely disconnected from results.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26B43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OPERATIONAL METRICS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1645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Is the agent practical to run?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14600"/>
          <a:ext cx="11064240" cy="336499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Metric</a:t>
                      </a:r>
                      <a:endParaRPr lang="en-US" sz="120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What it tells you</a:t>
                      </a:r>
                      <a:endParaRPr lang="en-US" sz="120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Capture on AWS</a:t>
                      </a:r>
                      <a:endParaRPr lang="en-US" sz="120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Target / alert</a:t>
                      </a:r>
                      <a:endParaRPr lang="en-US" sz="120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Latency (p50/p90/p99)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Goal→response time. p99 drives the user experience.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Lambda duration; custom metric per task type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0D6C7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&lt; 10 s (p95)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Cost per task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Input + output token cost. Track across versions.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Bedrock cost tags in Cost Explorer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0D6C7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Alert at +20%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Tool call count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Avg tool calls per task. High = a confused agent.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Custom CloudWatch metric at completion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0D6C7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≤ 8 per task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Loop iterations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Think-act-observe cycles. Runaway = stuck.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Count in the Lambda handler; emit metric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0D6C7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Alert at 2× max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66928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Recommendation:  </a:t>
            </a:r>
            <a:r>
              <a:rPr lang="en-US" sz="13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emit all four as CloudWatch custom metrics with task_type and agent_version dimensions — so you catch regressions per category, not just globally.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7DFF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SAFETY &amp; RELIABILITY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1645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Does the agent stay inside its boundaries?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66928" y="2606040"/>
            <a:ext cx="5394960" cy="1508760"/>
          </a:xfrm>
          <a:prstGeom prst="roundRect">
            <a:avLst>
              <a:gd name="adj" fmla="val 5455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Text 5"/>
          <p:cNvSpPr/>
          <p:nvPr/>
        </p:nvSpPr>
        <p:spPr>
          <a:xfrm>
            <a:off x="886968" y="28072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7D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Guardrail violations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86968" y="320954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How many requests Bedrock Guardrails blocked or modified. A spike signals adversarial inputs.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86968" y="37764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7DFF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Bedrock Guardrails — built-in CloudWatch metrics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0" y="2606040"/>
            <a:ext cx="5394960" cy="1508760"/>
          </a:xfrm>
          <a:prstGeom prst="roundRect">
            <a:avLst>
              <a:gd name="adj" fmla="val 5455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2" name="Text 9"/>
          <p:cNvSpPr/>
          <p:nvPr/>
        </p:nvSpPr>
        <p:spPr>
          <a:xfrm>
            <a:off x="6537960" y="28072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Error recovery rate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537960" y="320954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When a tool call fails, does the agent recover or give up? Low recovery = a reliability liability.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37960" y="37764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D6C7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Instrument try/except; emit success/failure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6928" y="4297680"/>
            <a:ext cx="5394960" cy="1508760"/>
          </a:xfrm>
          <a:prstGeom prst="roundRect">
            <a:avLst>
              <a:gd name="adj" fmla="val 5455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6" name="Text 13"/>
          <p:cNvSpPr/>
          <p:nvPr/>
        </p:nvSpPr>
        <p:spPr>
          <a:xfrm>
            <a:off x="886968" y="44988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Policy adherence rate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86968" y="490118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Fraction of tasks completed without an out-of-scope action. Check tool logs vs an allowed list.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86968" y="54681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433FF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Custom CloudWatch metric per task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17920" y="4297680"/>
            <a:ext cx="5394960" cy="1508760"/>
          </a:xfrm>
          <a:prstGeom prst="roundRect">
            <a:avLst>
              <a:gd name="adj" fmla="val 5455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Text 17"/>
          <p:cNvSpPr/>
          <p:nvPr/>
        </p:nvSpPr>
        <p:spPr>
          <a:xfrm>
            <a:off x="6537960" y="44988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Timeout behavior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537960" y="490118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At max iterations — useful partial result, or a confusing error? Define graceful degradation.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37960" y="54681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6B43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Set max_iterations; emit a timeout metric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66928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7D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AWS recommendation:  </a:t>
            </a:r>
            <a:r>
              <a:rPr lang="en-US" sz="13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configure Bedrock Guardrails before your first production deploy — content filtering, topic limits, and PII redaction are native.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21547" y="457200"/>
            <a:ext cx="2903220" cy="457200"/>
          </a:xfrm>
          <a:prstGeom prst="roundRect">
            <a:avLst>
              <a:gd name="adj" fmla="val 50000"/>
            </a:avLst>
          </a:prstGeom>
          <a:solidFill>
            <a:srgbClr val="E433FF"/>
          </a:solidFill>
          <a:ln/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1003" y="576072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97035" y="457200"/>
            <a:ext cx="2354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161D26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SHOUT THE CAUSE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66928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Diagnose the failure.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566928" y="162763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 failing test isn't the problem. The pattern across failures is the signal. Call out what's broken.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66928" y="2286000"/>
            <a:ext cx="5394960" cy="1572768"/>
          </a:xfrm>
          <a:prstGeom prst="roundRect">
            <a:avLst>
              <a:gd name="adj" fmla="val 5233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1" name="Text 7"/>
          <p:cNvSpPr/>
          <p:nvPr/>
        </p:nvSpPr>
        <p:spPr>
          <a:xfrm>
            <a:off x="841248" y="25603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</a:t>
            </a:r>
            <a:endParaRPr lang="en-US" sz="4800" dirty="0"/>
          </a:p>
        </p:txBody>
      </p:sp>
      <p:sp>
        <p:nvSpPr>
          <p:cNvPr id="12" name="Text 8"/>
          <p:cNvSpPr/>
          <p:nvPr/>
        </p:nvSpPr>
        <p:spPr>
          <a:xfrm>
            <a:off x="1938528" y="25603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The same tool fails 80%+ of the time.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126480" y="2286000"/>
            <a:ext cx="5394960" cy="1572768"/>
          </a:xfrm>
          <a:prstGeom prst="roundRect">
            <a:avLst>
              <a:gd name="adj" fmla="val 5233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Text 10"/>
          <p:cNvSpPr/>
          <p:nvPr/>
        </p:nvSpPr>
        <p:spPr>
          <a:xfrm>
            <a:off x="6400800" y="25603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B</a:t>
            </a:r>
            <a:endParaRPr lang="en-US" sz="4800" dirty="0"/>
          </a:p>
        </p:txBody>
      </p:sp>
      <p:sp>
        <p:nvSpPr>
          <p:cNvPr id="15" name="Text 11"/>
          <p:cNvSpPr/>
          <p:nvPr/>
        </p:nvSpPr>
        <p:spPr>
          <a:xfrm>
            <a:off x="7498080" y="25603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Failures all cluster on one input class.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66928" y="4059936"/>
            <a:ext cx="5394960" cy="1572768"/>
          </a:xfrm>
          <a:prstGeom prst="roundRect">
            <a:avLst>
              <a:gd name="adj" fmla="val 5233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7" name="Text 13"/>
          <p:cNvSpPr/>
          <p:nvPr/>
        </p:nvSpPr>
        <p:spPr>
          <a:xfrm>
            <a:off x="841248" y="4334256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C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1938528" y="4334256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Failing tasks have huge tool-call counts.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126480" y="4059936"/>
            <a:ext cx="5394960" cy="1572768"/>
          </a:xfrm>
          <a:prstGeom prst="roundRect">
            <a:avLst>
              <a:gd name="adj" fmla="val 5233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Text 16"/>
          <p:cNvSpPr/>
          <p:nvPr/>
        </p:nvSpPr>
        <p:spPr>
          <a:xfrm>
            <a:off x="6400800" y="4334256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</a:t>
            </a:r>
            <a:endParaRPr lang="en-US" sz="4800" dirty="0"/>
          </a:p>
        </p:txBody>
      </p:sp>
      <p:sp>
        <p:nvSpPr>
          <p:cNvPr id="21" name="Text 17"/>
          <p:cNvSpPr/>
          <p:nvPr/>
        </p:nvSpPr>
        <p:spPr>
          <a:xfrm>
            <a:off x="7498080" y="4334256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Failures look completely random.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433FF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READING FAILURES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1645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What each pattern is telling you.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66928" y="246888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645920" y="24688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Ambiguous tool description.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126480" y="24688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FIX   </a:t>
            </a:r>
            <a:r>
              <a:rPr lang="en-US" sz="150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Rewrite it. Add one valid and one invalid example.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3401568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2" name="Text 9"/>
          <p:cNvSpPr/>
          <p:nvPr/>
        </p:nvSpPr>
        <p:spPr>
          <a:xfrm>
            <a:off x="777240" y="3401568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B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645920" y="340156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Prompt doesn't handle that class.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6126480" y="3401568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FIX   </a:t>
            </a:r>
            <a:r>
              <a:rPr lang="en-US" sz="150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Add explicit instructions — or split off a specialist agent.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66928" y="4334256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6" name="Text 13"/>
          <p:cNvSpPr/>
          <p:nvPr/>
        </p:nvSpPr>
        <p:spPr>
          <a:xfrm>
            <a:off x="777240" y="4334256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C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645920" y="4334256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Agent's confused, looping, retrying.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6126480" y="4334256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FIX   </a:t>
            </a:r>
            <a:r>
              <a:rPr lang="en-US" sz="150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Kill tool overlap. Add an explicit stop condition.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66928" y="5266944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Text 17"/>
          <p:cNvSpPr/>
          <p:nvPr/>
        </p:nvSpPr>
        <p:spPr>
          <a:xfrm>
            <a:off x="777240" y="5266944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1645920" y="5266944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Near its capability edge / underspecified.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6126480" y="5266944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FIX   </a:t>
            </a:r>
            <a:r>
              <a:rPr lang="en-US" sz="150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Read 10 traces by hand. Decompose the task.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26B43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HOW IT RUNS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1645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Two layers. The cheap one first.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66928" y="2606040"/>
            <a:ext cx="1673352" cy="914400"/>
          </a:xfrm>
          <a:prstGeom prst="roundRect">
            <a:avLst>
              <a:gd name="adj" fmla="val 8000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8" name="Text 5"/>
          <p:cNvSpPr/>
          <p:nvPr/>
        </p:nvSpPr>
        <p:spPr>
          <a:xfrm>
            <a:off x="566928" y="260604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Dataset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S3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221992" y="260604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404872" y="2606040"/>
            <a:ext cx="1673352" cy="914400"/>
          </a:xfrm>
          <a:prstGeom prst="roundRect">
            <a:avLst>
              <a:gd name="adj" fmla="val 8000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Text 8"/>
          <p:cNvSpPr/>
          <p:nvPr/>
        </p:nvSpPr>
        <p:spPr>
          <a:xfrm>
            <a:off x="2404872" y="260604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Fan-out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Step Functions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59936" y="260604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242816" y="2606040"/>
            <a:ext cx="1673352" cy="914400"/>
          </a:xfrm>
          <a:prstGeom prst="roundRect">
            <a:avLst>
              <a:gd name="adj" fmla="val 8000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Text 11"/>
          <p:cNvSpPr/>
          <p:nvPr/>
        </p:nvSpPr>
        <p:spPr>
          <a:xfrm>
            <a:off x="4242816" y="260604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Agent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Lambda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897880" y="260604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080760" y="2606040"/>
            <a:ext cx="1673352" cy="914400"/>
          </a:xfrm>
          <a:prstGeom prst="roundRect">
            <a:avLst>
              <a:gd name="adj" fmla="val 8000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Text 14"/>
          <p:cNvSpPr/>
          <p:nvPr/>
        </p:nvSpPr>
        <p:spPr>
          <a:xfrm>
            <a:off x="6080760" y="260604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Trace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735824" y="260604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918704" y="2606040"/>
            <a:ext cx="1673352" cy="914400"/>
          </a:xfrm>
          <a:prstGeom prst="roundRect">
            <a:avLst>
              <a:gd name="adj" fmla="val 8000"/>
            </a:avLst>
          </a:prstGeom>
          <a:solidFill>
            <a:srgbClr val="27313F"/>
          </a:solidFill>
          <a:ln w="19050">
            <a:solidFill>
              <a:srgbClr val="E433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Text 17"/>
          <p:cNvSpPr/>
          <p:nvPr/>
        </p:nvSpPr>
        <p:spPr>
          <a:xfrm>
            <a:off x="7918704" y="260604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Score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rule + judge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573768" y="260604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9756648" y="2606040"/>
            <a:ext cx="1673352" cy="914400"/>
          </a:xfrm>
          <a:prstGeom prst="roundRect">
            <a:avLst>
              <a:gd name="adj" fmla="val 8000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3" name="Text 20"/>
          <p:cNvSpPr/>
          <p:nvPr/>
        </p:nvSpPr>
        <p:spPr>
          <a:xfrm>
            <a:off x="9756648" y="260604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Results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DynamoDB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66928" y="3931920"/>
            <a:ext cx="5376672" cy="2194560"/>
          </a:xfrm>
          <a:prstGeom prst="roundRect">
            <a:avLst>
              <a:gd name="adj" fmla="val 3750"/>
            </a:avLst>
          </a:prstGeom>
          <a:solidFill>
            <a:srgbClr val="1E2735"/>
          </a:solidFill>
          <a:ln w="16510">
            <a:solidFill>
              <a:srgbClr val="007DFF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5" name="Text 22"/>
          <p:cNvSpPr/>
          <p:nvPr/>
        </p:nvSpPr>
        <p:spPr>
          <a:xfrm>
            <a:off x="932688" y="4206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D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Layer 1 — Rules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32688" y="482803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Schema valid? Token budget OK? Required parts present? No LLM cost. Runs first and gates layer 2.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245352" y="3931920"/>
            <a:ext cx="5376672" cy="2194560"/>
          </a:xfrm>
          <a:prstGeom prst="roundRect">
            <a:avLst>
              <a:gd name="adj" fmla="val 3750"/>
            </a:avLst>
          </a:prstGeom>
          <a:solidFill>
            <a:srgbClr val="1E2735"/>
          </a:solidFill>
          <a:ln w="16510">
            <a:solidFill>
              <a:srgbClr val="E433FF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8" name="Text 25"/>
          <p:cNvSpPr/>
          <p:nvPr/>
        </p:nvSpPr>
        <p:spPr>
          <a:xfrm>
            <a:off x="6611112" y="4206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Layer 2 — LLM judge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6611112" y="482803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Only on cases that pass layer 1. Different model than the agent. Cuts judge spend 30–50%.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D6C7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EVALUATION-DRIVEN DEVELOPMENT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1645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Improve in one loop, one change at a time.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66928" y="260604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5"/>
          <p:cNvSpPr/>
          <p:nvPr/>
        </p:nvSpPr>
        <p:spPr>
          <a:xfrm>
            <a:off x="859536" y="2898648"/>
            <a:ext cx="658368" cy="658368"/>
          </a:xfrm>
          <a:prstGeom prst="ellipse">
            <a:avLst/>
          </a:prstGeom>
          <a:solidFill>
            <a:srgbClr val="27313F"/>
          </a:solidFill>
          <a:ln w="19050">
            <a:solidFill>
              <a:srgbClr val="007D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6"/>
          <p:cNvSpPr/>
          <p:nvPr/>
        </p:nvSpPr>
        <p:spPr>
          <a:xfrm>
            <a:off x="859536" y="28986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D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59536" y="37033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Establish a baseline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9536" y="4480560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Run eval on the current agent. Record all four dimensions. This is your reference point.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136392" y="2606040"/>
            <a:ext cx="182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364992" y="260604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3657600" y="2898648"/>
            <a:ext cx="658368" cy="658368"/>
          </a:xfrm>
          <a:prstGeom prst="ellipse">
            <a:avLst/>
          </a:prstGeom>
          <a:solidFill>
            <a:srgbClr val="27313F"/>
          </a:solidFill>
          <a:ln w="19050">
            <a:solidFill>
              <a:srgbClr val="E433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Text 12"/>
          <p:cNvSpPr/>
          <p:nvPr/>
        </p:nvSpPr>
        <p:spPr>
          <a:xfrm>
            <a:off x="3657600" y="28986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3657600" y="37033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Identify the weakest signal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657600" y="4480560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Lowest score = next target. Don't improve everything at once — you'll confound the experiment.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934456" y="2606040"/>
            <a:ext cx="182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163056" y="260604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Shape 17"/>
          <p:cNvSpPr/>
          <p:nvPr/>
        </p:nvSpPr>
        <p:spPr>
          <a:xfrm>
            <a:off x="6455664" y="2898648"/>
            <a:ext cx="658368" cy="658368"/>
          </a:xfrm>
          <a:prstGeom prst="ellipse">
            <a:avLst/>
          </a:prstGeom>
          <a:solidFill>
            <a:srgbClr val="27313F"/>
          </a:solidFill>
          <a:ln w="19050">
            <a:solidFill>
              <a:srgbClr val="F26B4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Text 18"/>
          <p:cNvSpPr/>
          <p:nvPr/>
        </p:nvSpPr>
        <p:spPr>
          <a:xfrm>
            <a:off x="6455664" y="28986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455664" y="37033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Make one targeted change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455664" y="4480560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Prompt edit, tool description, or dataset add. One at a time, so you know what helped.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732520" y="2606040"/>
            <a:ext cx="182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961120" y="260604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6" name="Shape 23"/>
          <p:cNvSpPr/>
          <p:nvPr/>
        </p:nvSpPr>
        <p:spPr>
          <a:xfrm>
            <a:off x="9253728" y="2898648"/>
            <a:ext cx="658368" cy="658368"/>
          </a:xfrm>
          <a:prstGeom prst="ellipse">
            <a:avLst/>
          </a:prstGeom>
          <a:solidFill>
            <a:srgbClr val="27313F"/>
          </a:solidFill>
          <a:ln w="19050">
            <a:solidFill>
              <a:srgbClr val="00D6C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Text 24"/>
          <p:cNvSpPr/>
          <p:nvPr/>
        </p:nvSpPr>
        <p:spPr>
          <a:xfrm>
            <a:off x="9253728" y="28986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4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9253728" y="37033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Re-run and compare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253728" y="4480560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Against baseline, on all dimensions. +5% completion but 2× cost is not an improvement.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66928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↺  then repeat — every production incident becomes the next test case.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D6C7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ONE TARGETED CHANGE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1645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DevOps Companion — before / after.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66928" y="2788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AEB6C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ACTIONABILITY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32918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60%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2286000" y="3291840"/>
            <a:ext cx="68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2926080" y="315468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85%</a:t>
            </a:r>
            <a:endParaRPr lang="en-US" sz="9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611880"/>
            <a:ext cx="566928" cy="56692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772400" y="2743200"/>
            <a:ext cx="3840480" cy="777240"/>
          </a:xfrm>
          <a:prstGeom prst="roundRect">
            <a:avLst>
              <a:gd name="adj" fmla="val 10588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3" name="Text 9"/>
          <p:cNvSpPr/>
          <p:nvPr/>
        </p:nvSpPr>
        <p:spPr>
          <a:xfrm>
            <a:off x="8046720" y="27432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Task completion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9784080" y="27432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78%  </a:t>
            </a:r>
            <a:r>
              <a:rPr lang="en-US" sz="17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  89%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7772400" y="3657600"/>
            <a:ext cx="3840480" cy="777240"/>
          </a:xfrm>
          <a:prstGeom prst="roundRect">
            <a:avLst>
              <a:gd name="adj" fmla="val 10588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6" name="Text 12"/>
          <p:cNvSpPr/>
          <p:nvPr/>
        </p:nvSpPr>
        <p:spPr>
          <a:xfrm>
            <a:off x="8046720" y="3657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Completeness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9784080" y="36576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80%  </a:t>
            </a:r>
            <a:r>
              <a:rPr lang="en-US" sz="17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  88%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7772400" y="4572000"/>
            <a:ext cx="3840480" cy="777240"/>
          </a:xfrm>
          <a:prstGeom prst="roundRect">
            <a:avLst>
              <a:gd name="adj" fmla="val 10588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9" name="Text 15"/>
          <p:cNvSpPr/>
          <p:nvPr/>
        </p:nvSpPr>
        <p:spPr>
          <a:xfrm>
            <a:off x="8046720" y="4572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Avg tool calls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9784080" y="4572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6.2  </a:t>
            </a:r>
            <a:r>
              <a:rPr lang="en-US" sz="17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  5.8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566928" y="5623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Not a new model. One instruction added to the system prompt.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26B43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ROUTING AGENTS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1645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Classify the intent, dispatch to a specialist.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66928" y="2468880"/>
            <a:ext cx="5852160" cy="3657600"/>
          </a:xfrm>
          <a:prstGeom prst="roundRect">
            <a:avLst>
              <a:gd name="adj" fmla="val 2250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B43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A GOOD CLASSIFIER PROMPT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306324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Clear category definitions</a:t>
            </a:r>
            <a:endParaRPr lang="en-US" sz="145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One sentence per destination agent.</a:t>
            </a:r>
            <a:endParaRPr lang="en-US" sz="145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Per-category examples</a:t>
            </a:r>
            <a:endParaRPr lang="en-US" sz="145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2–3 inputs each — calibrate without fine-tuning.</a:t>
            </a:r>
            <a:endParaRPr lang="en-US" sz="145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Handle ambiguous inputs</a:t>
            </a:r>
            <a:endParaRPr lang="en-US" sz="145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An explicit “unknown” / “multi-intent” category.</a:t>
            </a:r>
            <a:endParaRPr lang="en-US" sz="145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Confidence scoring</a:t>
            </a:r>
            <a:endParaRPr lang="en-US" sz="145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Return a score; route low-confidence to fallback.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75120" y="2606040"/>
            <a:ext cx="4937760" cy="713232"/>
          </a:xfrm>
          <a:prstGeom prst="roundRect">
            <a:avLst>
              <a:gd name="adj" fmla="val 11538"/>
            </a:avLst>
          </a:prstGeom>
          <a:solidFill>
            <a:srgbClr val="1E2735"/>
          </a:solidFill>
          <a:ln w="15240">
            <a:solidFill>
              <a:srgbClr val="007DFF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1" name="Text 8"/>
          <p:cNvSpPr/>
          <p:nvPr/>
        </p:nvSpPr>
        <p:spPr>
          <a:xfrm>
            <a:off x="6949440" y="260604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User request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869680" y="33192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675120" y="3611880"/>
            <a:ext cx="4937760" cy="713232"/>
          </a:xfrm>
          <a:prstGeom prst="roundRect">
            <a:avLst>
              <a:gd name="adj" fmla="val 11538"/>
            </a:avLst>
          </a:prstGeom>
          <a:solidFill>
            <a:srgbClr val="1E2735"/>
          </a:solidFill>
          <a:ln w="15240">
            <a:solidFill>
              <a:srgbClr val="E433FF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Text 11"/>
          <p:cNvSpPr/>
          <p:nvPr/>
        </p:nvSpPr>
        <p:spPr>
          <a:xfrm>
            <a:off x="6949440" y="361188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Extract intent + entities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869680" y="43251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675120" y="4617720"/>
            <a:ext cx="4937760" cy="713232"/>
          </a:xfrm>
          <a:prstGeom prst="roundRect">
            <a:avLst>
              <a:gd name="adj" fmla="val 11538"/>
            </a:avLst>
          </a:prstGeom>
          <a:solidFill>
            <a:srgbClr val="1E2735"/>
          </a:solidFill>
          <a:ln w="15240">
            <a:solidFill>
              <a:srgbClr val="00D6C7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7" name="Text 14"/>
          <p:cNvSpPr/>
          <p:nvPr/>
        </p:nvSpPr>
        <p:spPr>
          <a:xfrm>
            <a:off x="6949440" y="461772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Classify → confidence score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869680" y="5330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675120" y="5623560"/>
            <a:ext cx="2377440" cy="868680"/>
          </a:xfrm>
          <a:prstGeom prst="roundRect">
            <a:avLst>
              <a:gd name="adj" fmla="val 9474"/>
            </a:avLst>
          </a:prstGeom>
          <a:solidFill>
            <a:srgbClr val="0E2422"/>
          </a:solidFill>
          <a:ln w="15240">
            <a:solidFill>
              <a:srgbClr val="00D6C7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Text 17"/>
          <p:cNvSpPr/>
          <p:nvPr/>
        </p:nvSpPr>
        <p:spPr>
          <a:xfrm>
            <a:off x="6675120" y="56235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≥ 0.75</a:t>
            </a:r>
            <a:endParaRPr lang="en-US" sz="13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specialist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9235440" y="5623560"/>
            <a:ext cx="2377440" cy="868680"/>
          </a:xfrm>
          <a:prstGeom prst="roundRect">
            <a:avLst>
              <a:gd name="adj" fmla="val 9474"/>
            </a:avLst>
          </a:prstGeom>
          <a:solidFill>
            <a:srgbClr val="2A1B22"/>
          </a:solidFill>
          <a:ln w="15240">
            <a:solidFill>
              <a:srgbClr val="F26B43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2" name="Text 19"/>
          <p:cNvSpPr/>
          <p:nvPr/>
        </p:nvSpPr>
        <p:spPr>
          <a:xfrm>
            <a:off x="9235440" y="56235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&lt; 0.75</a:t>
            </a:r>
            <a:endParaRPr lang="en-US" sz="13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fallback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588959" y="457200"/>
            <a:ext cx="3035808" cy="457200"/>
          </a:xfrm>
          <a:prstGeom prst="roundRect">
            <a:avLst>
              <a:gd name="adj" fmla="val 50000"/>
            </a:avLst>
          </a:prstGeom>
          <a:solidFill>
            <a:srgbClr val="F26B43"/>
          </a:solidFill>
          <a:ln/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8415" y="576072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6444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161D26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HIGHER OR LOWER?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66928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Where's your line?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566928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EB6C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CONFIDENCE THRESHOLD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11480" y="26060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0.75</a:t>
            </a:r>
            <a:endParaRPr lang="en-US" sz="14000" dirty="0"/>
          </a:p>
        </p:txBody>
      </p:sp>
      <p:sp>
        <p:nvSpPr>
          <p:cNvPr id="11" name="Shape 7"/>
          <p:cNvSpPr/>
          <p:nvPr/>
        </p:nvSpPr>
        <p:spPr>
          <a:xfrm>
            <a:off x="5897880" y="2423160"/>
            <a:ext cx="5715000" cy="1417320"/>
          </a:xfrm>
          <a:prstGeom prst="roundRect">
            <a:avLst>
              <a:gd name="adj" fmla="val 5806"/>
            </a:avLst>
          </a:prstGeom>
          <a:solidFill>
            <a:srgbClr val="0E2422"/>
          </a:solidFill>
          <a:ln w="16510">
            <a:solidFill>
              <a:srgbClr val="00D6C7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2" name="Text 8"/>
          <p:cNvSpPr/>
          <p:nvPr/>
        </p:nvSpPr>
        <p:spPr>
          <a:xfrm>
            <a:off x="6217920" y="242316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≥ 0.75  </a:t>
            </a:r>
            <a:r>
              <a:rPr lang="en-US" sz="190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  route to the specialist agent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5897880" y="4023360"/>
            <a:ext cx="5715000" cy="1417320"/>
          </a:xfrm>
          <a:prstGeom prst="roundRect">
            <a:avLst>
              <a:gd name="adj" fmla="val 5806"/>
            </a:avLst>
          </a:prstGeom>
          <a:solidFill>
            <a:srgbClr val="2A1B22"/>
          </a:solidFill>
          <a:ln w="16510">
            <a:solidFill>
              <a:srgbClr val="F26B43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Text 10"/>
          <p:cNvSpPr/>
          <p:nvPr/>
        </p:nvSpPr>
        <p:spPr>
          <a:xfrm>
            <a:off x="6217920" y="402336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&lt; 0.75  </a:t>
            </a:r>
            <a:r>
              <a:rPr lang="en-US" sz="190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  fallback / escalate, never guess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566928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 silent wrong route compounds — the specialist burns tokens and hands back a confident, wrong answer.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26B43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ROUTING STRATEGY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1645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When to use which router.</a:t>
            </a:r>
            <a:endParaRPr lang="en-US" sz="3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77440"/>
          <a:ext cx="11064240" cy="3383280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Strategy</a:t>
                      </a:r>
                      <a:endParaRPr lang="en-US" sz="120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Accuracy</a:t>
                      </a:r>
                      <a:endParaRPr lang="en-US" sz="120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Latency</a:t>
                      </a:r>
                      <a:endParaRPr lang="en-US" sz="120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Cost</a:t>
                      </a:r>
                      <a:endParaRPr lang="en-US" sz="120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When to use it</a:t>
                      </a:r>
                      <a:endParaRPr lang="en-US" sz="120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Keyword rules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Medium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&lt; 1 ms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$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≤ 10 stable, well-defined categories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433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Embedding routing  ★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433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High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433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5–15 ms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433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$$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433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Semantic variety — best start for most teams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Classifier model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Very High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10–30 ms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$$$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High volume (&gt;10K/day), &gt;10 categories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LLM routing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Highest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200+ ms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$$$$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Ambiguous multi-intent, accuracy critical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Hybrid (rules+LLM)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Highest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Variable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$$$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mazon Ember Display" pitchFamily="34" charset="0"/>
                          <a:ea typeface="Amazon Ember Display" pitchFamily="34" charset="-122"/>
                          <a:cs typeface="Amazon Ember Display" pitchFamily="34" charset="-120"/>
                        </a:rPr>
                        <a:t>Production: fast rules + LLM fallback</a:t>
                      </a:r>
                      <a:endParaRPr lang="en-US" sz="1250" dirty="0">
                        <a:latin typeface="Amazon Ember Display" charset="0"/>
                        <a:ea typeface="Amazon Ember Display" charset="0"/>
                        <a:cs typeface="Amazon Ember Display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66928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AWS recommendation:  </a:t>
            </a:r>
            <a:r>
              <a:rPr lang="en-US" sz="13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start with embedding-based routing on Bedrock Knowledge Bases; add an LLM fallback under your confidence threshold. Fine-tune a classifier only with &gt;10K labeled examples.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9649663" y="4572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E433FF"/>
          </a:solidFill>
          <a:ln/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9119" y="576072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25151" y="45720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161D26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HANDS UP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66928" y="109728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Self-correction is therapy</a:t>
            </a:r>
            <a:endParaRPr lang="en-US" sz="36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for a weak prompt.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502920" y="28803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70%</a:t>
            </a:r>
            <a:endParaRPr lang="en-US" sz="9000" dirty="0"/>
          </a:p>
        </p:txBody>
      </p:sp>
      <p:sp>
        <p:nvSpPr>
          <p:cNvPr id="10" name="Text 6"/>
          <p:cNvSpPr/>
          <p:nvPr/>
        </p:nvSpPr>
        <p:spPr>
          <a:xfrm>
            <a:off x="4434840" y="2880360"/>
            <a:ext cx="7178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of the time teams reach for a self-correction loop, a better system prompt or clearer tool descriptions would have fixed it.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566928" y="461772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0E2422"/>
          </a:solidFill>
          <a:ln w="15240">
            <a:solidFill>
              <a:srgbClr val="00D6C7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2" name="Text 8"/>
          <p:cNvSpPr/>
          <p:nvPr/>
        </p:nvSpPr>
        <p:spPr>
          <a:xfrm>
            <a:off x="868680" y="461772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USE IT 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High-stakes output where the agent can recognize a poor response — code, structured reports.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36208" y="461772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2A1B22"/>
          </a:solidFill>
          <a:ln w="15240">
            <a:solidFill>
              <a:srgbClr val="F26B43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Text 10"/>
          <p:cNvSpPr/>
          <p:nvPr/>
        </p:nvSpPr>
        <p:spPr>
          <a:xfrm>
            <a:off x="6537960" y="461772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SKIP IT 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Conversational agents (users feel the delay) and simple retrieval — +20–40% latency for nothing.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7DFF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TOOLING LANDSCAPE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1645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Six evaluation tools at a glance.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66928" y="260604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Text 5"/>
          <p:cNvSpPr/>
          <p:nvPr/>
        </p:nvSpPr>
        <p:spPr>
          <a:xfrm>
            <a:off x="841248" y="286207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7D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Bedrock AgentCore Evaluations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41248" y="3474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Managed runs · built-in evaluators · CloudWatch, zero infra · custom evaluators.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70248" y="260604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1" name="Text 8"/>
          <p:cNvSpPr/>
          <p:nvPr/>
        </p:nvSpPr>
        <p:spPr>
          <a:xfrm>
            <a:off x="4544568" y="286207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LangSmith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544568" y="3474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Full trace capture + annotation · dataset versioning · LLM-judge · tight LangChain/LangGraph.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73568" y="260604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Text 11"/>
          <p:cNvSpPr/>
          <p:nvPr/>
        </p:nvSpPr>
        <p:spPr>
          <a:xfrm>
            <a:off x="8247888" y="286207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LangFuse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247888" y="3474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Trace + scoring · LLM-judge built-in · self-host for data residency · any framework.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43891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7" name="Text 14"/>
          <p:cNvSpPr/>
          <p:nvPr/>
        </p:nvSpPr>
        <p:spPr>
          <a:xfrm>
            <a:off x="841248" y="46451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Weights &amp; Biases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41248" y="5257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Experiment tracking · prompt versioning · score dashboards · ML-heavy teams.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270248" y="43891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Text 17"/>
          <p:cNvSpPr/>
          <p:nvPr/>
        </p:nvSpPr>
        <p:spPr>
          <a:xfrm>
            <a:off x="4544568" y="46451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952E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Patronus AI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4544568" y="5257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Define your own criteria · automated regression tracking · hallucination scoring · audit trails.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973568" y="43891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3" name="Text 20"/>
          <p:cNvSpPr/>
          <p:nvPr/>
        </p:nvSpPr>
        <p:spPr>
          <a:xfrm>
            <a:off x="8247888" y="46451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4FD17A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Deepchecks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8247888" y="5257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Automated hallucination detection · RAG drift · CI/CD step · open-source core.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7660843" y="457200"/>
            <a:ext cx="3963924" cy="457200"/>
          </a:xfrm>
          <a:prstGeom prst="roundRect">
            <a:avLst>
              <a:gd name="adj" fmla="val 50000"/>
            </a:avLst>
          </a:prstGeom>
          <a:solidFill>
            <a:srgbClr val="007DFF"/>
          </a:solidFill>
          <a:ln/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299" y="576072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36331" y="457200"/>
            <a:ext cx="3415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161D26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WHAT'S YOUR CONSTRAINT?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66928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One question picks your tool.</a:t>
            </a:r>
            <a:endParaRPr lang="en-US" sz="3000" dirty="0"/>
          </a:p>
        </p:txBody>
      </p:sp>
      <p:sp>
        <p:nvSpPr>
          <p:cNvPr id="9" name="Shape 5"/>
          <p:cNvSpPr/>
          <p:nvPr/>
        </p:nvSpPr>
        <p:spPr>
          <a:xfrm>
            <a:off x="566928" y="1783080"/>
            <a:ext cx="11064240" cy="713232"/>
          </a:xfrm>
          <a:prstGeom prst="roundRect">
            <a:avLst>
              <a:gd name="adj" fmla="val 11538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0" name="Text 6"/>
          <p:cNvSpPr/>
          <p:nvPr/>
        </p:nvSpPr>
        <p:spPr>
          <a:xfrm>
            <a:off x="914400" y="178308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AWS-native, minimal infra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83680" y="178308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D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223760" y="178308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7D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Bedrock AgentCore Evaluations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566928" y="2615184"/>
            <a:ext cx="11064240" cy="713232"/>
          </a:xfrm>
          <a:prstGeom prst="roundRect">
            <a:avLst>
              <a:gd name="adj" fmla="val 11538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Text 10"/>
          <p:cNvSpPr/>
          <p:nvPr/>
        </p:nvSpPr>
        <p:spPr>
          <a:xfrm>
            <a:off x="914400" y="2615184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You're on LangChain / LangGraph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83680" y="261518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223760" y="261518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LangSmith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566928" y="3447288"/>
            <a:ext cx="11064240" cy="713232"/>
          </a:xfrm>
          <a:prstGeom prst="roundRect">
            <a:avLst>
              <a:gd name="adj" fmla="val 11538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8" name="Text 14"/>
          <p:cNvSpPr/>
          <p:nvPr/>
        </p:nvSpPr>
        <p:spPr>
          <a:xfrm>
            <a:off x="914400" y="3447288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Data must stay in your VPC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583680" y="344728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7223760" y="344728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LangFuse (self-hosted)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566928" y="4279392"/>
            <a:ext cx="11064240" cy="713232"/>
          </a:xfrm>
          <a:prstGeom prst="roundRect">
            <a:avLst>
              <a:gd name="adj" fmla="val 11538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2" name="Text 18"/>
          <p:cNvSpPr/>
          <p:nvPr/>
        </p:nvSpPr>
        <p:spPr>
          <a:xfrm>
            <a:off x="914400" y="4279392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Custom criteria that evolve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583680" y="427939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52E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7223760" y="427939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52E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Patronus AI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566928" y="5111496"/>
            <a:ext cx="11064240" cy="713232"/>
          </a:xfrm>
          <a:prstGeom prst="roundRect">
            <a:avLst>
              <a:gd name="adj" fmla="val 11538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6" name="Text 22"/>
          <p:cNvSpPr/>
          <p:nvPr/>
        </p:nvSpPr>
        <p:spPr>
          <a:xfrm>
            <a:off x="914400" y="5111496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Your ML team already tracks experiments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583680" y="511149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7223760" y="511149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Weights &amp; Biases</a:t>
            </a:r>
            <a:endParaRPr lang="en-US" sz="1700" dirty="0"/>
          </a:p>
        </p:txBody>
      </p:sp>
      <p:sp>
        <p:nvSpPr>
          <p:cNvPr id="29" name="Shape 25"/>
          <p:cNvSpPr/>
          <p:nvPr/>
        </p:nvSpPr>
        <p:spPr>
          <a:xfrm>
            <a:off x="566928" y="5943600"/>
            <a:ext cx="11064240" cy="713232"/>
          </a:xfrm>
          <a:prstGeom prst="roundRect">
            <a:avLst>
              <a:gd name="adj" fmla="val 11538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0" name="Text 26"/>
          <p:cNvSpPr/>
          <p:nvPr/>
        </p:nvSpPr>
        <p:spPr>
          <a:xfrm>
            <a:off x="914400" y="594360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Hallucination / RAG is your #1 concern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6583680" y="594360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D17A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7223760" y="594360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17A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Deepchecks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26B43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WHERE TEAMS GO WRONG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1645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Four anti-patterns — and the fix.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66928" y="260604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2880360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16736" y="28437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Evaluating only the happy path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86968" y="33832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FIX   </a:t>
            </a:r>
            <a:r>
              <a:rPr lang="en-US" sz="13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Include adversarial inputs. Add a test case for every production failure.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217920" y="260604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880360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67728" y="28437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Same model as agent and judge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537960" y="33832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FIX   </a:t>
            </a:r>
            <a:r>
              <a:rPr lang="en-US" sz="13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Use a different, more capable judge. Sonnet agent + Opus judge.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66928" y="434340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617720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16736" y="45811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Evaluating once, not continuously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886968" y="5120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FIX   </a:t>
            </a:r>
            <a:r>
              <a:rPr lang="en-US" sz="13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Run on every PR. Gate merges on thresholds. Track versions in DynamoDB.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217920" y="434340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617720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67728" y="45811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6B43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Optimizing one metric in isolation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537960" y="5120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FIX   </a:t>
            </a:r>
            <a:r>
              <a:rPr lang="en-US" sz="135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Define a composite score across all four dimensions. Review the full set.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D6C7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TAKE THIS HOME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1645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Six things to do Monday.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66928" y="251460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Text 5"/>
          <p:cNvSpPr/>
          <p:nvPr/>
        </p:nvSpPr>
        <p:spPr>
          <a:xfrm>
            <a:off x="841248" y="251460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572768" y="2514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Build a test dataset — 20–50 examples, your most common and most critical tasks.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79476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1" name="Text 8"/>
          <p:cNvSpPr/>
          <p:nvPr/>
        </p:nvSpPr>
        <p:spPr>
          <a:xfrm>
            <a:off x="841248" y="379476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1572768" y="37947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Instrument with LangFuse or LangSmith to capture full execution traces.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507492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Text 11"/>
          <p:cNvSpPr/>
          <p:nvPr/>
        </p:nvSpPr>
        <p:spPr>
          <a:xfrm>
            <a:off x="841248" y="507492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1572768" y="50749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Configure Bedrock AgentCore Evaluations with built-ins + one custom rubric.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17920" y="251460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7" name="Text 14"/>
          <p:cNvSpPr/>
          <p:nvPr/>
        </p:nvSpPr>
        <p:spPr>
          <a:xfrm>
            <a:off x="6492240" y="251460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7223760" y="2514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Add two-layer scoring (rules → LLM judge) to a Step Functions pipeline.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17920" y="379476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Text 17"/>
          <p:cNvSpPr/>
          <p:nvPr/>
        </p:nvSpPr>
        <p:spPr>
          <a:xfrm>
            <a:off x="6492240" y="379476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5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7223760" y="37947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Gate PRs — block any merge where task completion drops below threshold.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217920" y="507492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1E2735"/>
          </a:solidFill>
          <a:ln w="12700">
            <a:solidFill>
              <a:srgbClr val="38475A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3" name="Text 20"/>
          <p:cNvSpPr/>
          <p:nvPr/>
        </p:nvSpPr>
        <p:spPr>
          <a:xfrm>
            <a:off x="6492240" y="507492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6C7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6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7223760" y="50749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Embedding-based routing on Bedrock Knowledge Bases; LLM fallback &lt; 0.75.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1480"/>
            <a:ext cx="566928" cy="3390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38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382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26</a:t>
            </a:r>
            <a:endParaRPr lang="en-US" sz="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691640"/>
            <a:ext cx="731520" cy="731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6928" y="2606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AEB6C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If you do one thing Monday:</a:t>
            </a:r>
            <a:endParaRPr lang="en-US" sz="2500" dirty="0"/>
          </a:p>
        </p:txBody>
      </p:sp>
      <p:sp>
        <p:nvSpPr>
          <p:cNvPr id="7" name="Text 3"/>
          <p:cNvSpPr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Gate the </a:t>
            </a:r>
            <a:r>
              <a:rPr lang="en-US" sz="8400" b="1" dirty="0">
                <a:solidFill>
                  <a:srgbClr val="E433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PR.</a:t>
            </a:r>
            <a:endParaRPr lang="en-US" sz="8400" dirty="0"/>
          </a:p>
        </p:txBody>
      </p:sp>
      <p:sp>
        <p:nvSpPr>
          <p:cNvPr id="8" name="Text 4"/>
          <p:cNvSpPr/>
          <p:nvPr/>
        </p:nvSpPr>
        <p:spPr>
          <a:xfrm>
            <a:off x="566928" y="48006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Block the merge when task completion drops below your threshold. Your agent regresses silently otherwise — and silent regression is how good agents rot.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57200"/>
            <a:ext cx="777240" cy="4647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0116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 smtClean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</a:rPr>
              <a:t> Repo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3A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1006" y="1150934"/>
            <a:ext cx="4431774" cy="429571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w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57200"/>
            <a:ext cx="777240" cy="4647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0116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3A2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© 2026, Amazon Web Services, Inc. or its affiliates. All rights reserved.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212085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4768</Words>
  <Application>Microsoft Office PowerPoint</Application>
  <PresentationFormat>Widescreen</PresentationFormat>
  <Paragraphs>614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Amazon Ember Display</vt:lpstr>
      <vt:lpstr>Amazon Ember Mono</vt:lpstr>
      <vt:lpstr>Aptos</vt:lpstr>
      <vt:lpstr>Arial</vt:lpstr>
      <vt:lpstr>Calibri</vt:lpstr>
      <vt:lpstr>Lucida Console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evaluation and decision engines</dc:title>
  <dc:subject>PptxGenJS Presentation</dc:subject>
  <dc:creator>Leonardo Murillo</dc:creator>
  <cp:lastModifiedBy>user</cp:lastModifiedBy>
  <cp:revision>31</cp:revision>
  <dcterms:created xsi:type="dcterms:W3CDTF">2026-06-13T21:11:29Z</dcterms:created>
  <dcterms:modified xsi:type="dcterms:W3CDTF">2026-09-17T00:25:54Z</dcterms:modified>
</cp:coreProperties>
</file>