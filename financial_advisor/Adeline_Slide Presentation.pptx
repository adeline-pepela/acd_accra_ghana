
<file path=[Content_Types].xml><?xml version="1.0" encoding="utf-8"?>
<Types xmlns="http://schemas.openxmlformats.org/package/2006/content-types">
  <Default Extension="png" ContentType="image/png"/>
  <Default Extension="svg" ContentType="image/svg+xml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5"/>
  </p:notesMasterIdLst>
  <p:sldIdLst>
    <p:sldId id="277" r:id="rId2"/>
    <p:sldId id="278" r:id="rId3"/>
    <p:sldId id="280" r:id="rId4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  <p:sldId id="267" r:id="rId15"/>
    <p:sldId id="268" r:id="rId16"/>
    <p:sldId id="269" r:id="rId17"/>
    <p:sldId id="270" r:id="rId18"/>
    <p:sldId id="274" r:id="rId19"/>
    <p:sldId id="275" r:id="rId20"/>
    <p:sldId id="276" r:id="rId21"/>
    <p:sldId id="271" r:id="rId22"/>
    <p:sldId id="272" r:id="rId23"/>
    <p:sldId id="279" r:id="rId24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41432" autoAdjust="0"/>
    <p:restoredTop sz="94610"/>
  </p:normalViewPr>
  <p:slideViewPr>
    <p:cSldViewPr snapToGrid="0" snapToObjects="1">
      <p:cViewPr varScale="1">
        <p:scale>
          <a:sx n="56" d="100"/>
          <a:sy n="56" d="100"/>
        </p:scale>
        <p:origin x="56" y="4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70236993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svg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16.svg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0.sv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1_Walk In_Event Titl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3">
            <a:extLst>
              <a:ext uri="{FF2B5EF4-FFF2-40B4-BE49-F238E27FC236}">
                <a16:creationId xmlns:a16="http://schemas.microsoft.com/office/drawing/2014/main" id="{51D4A9EF-39A9-88DE-E1CB-1F5F6DD95004}"/>
              </a:ext>
            </a:extLst>
          </p:cNvPr>
          <p:cNvSpPr txBox="1">
            <a:spLocks noChangeArrowheads="1"/>
          </p:cNvSpPr>
          <p:nvPr userDrawn="1"/>
        </p:nvSpPr>
        <p:spPr bwMode="white">
          <a:xfrm>
            <a:off x="419101" y="6476853"/>
            <a:ext cx="3962400" cy="107722"/>
          </a:xfrm>
          <a:prstGeom prst="rect">
            <a:avLst/>
          </a:prstGeom>
          <a:noFill/>
          <a:ln>
            <a:noFill/>
          </a:ln>
        </p:spPr>
        <p:txBody>
          <a:bodyPr lIns="0" tIns="0" rIns="0" bIns="0">
            <a:spAutoFit/>
          </a:bodyPr>
          <a:lstStyle>
            <a:lvl1pPr>
              <a:defRPr>
                <a:solidFill>
                  <a:schemeClr val="tx1"/>
                </a:solidFill>
                <a:latin typeface="+mn-lt"/>
              </a:defRPr>
            </a:lvl1pPr>
            <a:lvl2pPr marL="742950" indent="-285750">
              <a:defRPr>
                <a:solidFill>
                  <a:schemeClr val="tx1"/>
                </a:solidFill>
                <a:latin typeface="+mn-lt"/>
              </a:defRPr>
            </a:lvl2pPr>
            <a:lvl3pPr marL="1143000" indent="-228600">
              <a:defRPr>
                <a:solidFill>
                  <a:schemeClr val="tx1"/>
                </a:solidFill>
                <a:latin typeface="+mn-lt"/>
              </a:defRPr>
            </a:lvl3pPr>
            <a:lvl4pPr marL="1600200" indent="-228600">
              <a:defRPr>
                <a:solidFill>
                  <a:schemeClr val="tx1"/>
                </a:solidFill>
                <a:latin typeface="+mn-lt"/>
              </a:defRPr>
            </a:lvl4pPr>
            <a:lvl5pPr marL="2057400" indent="-228600">
              <a:defRPr>
                <a:solidFill>
                  <a:schemeClr val="tx1"/>
                </a:solidFill>
                <a:latin typeface="+mn-lt"/>
              </a:defRPr>
            </a:lvl5pPr>
            <a:lvl6pPr marL="25146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+mn-lt"/>
              </a:defRPr>
            </a:lvl6pPr>
            <a:lvl7pPr marL="29718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+mn-lt"/>
              </a:defRPr>
            </a:lvl7pPr>
            <a:lvl8pPr marL="34290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+mn-lt"/>
              </a:defRPr>
            </a:lvl8pPr>
            <a:lvl9pPr marL="38862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+mn-lt"/>
              </a:defRPr>
            </a:lvl9pPr>
          </a:lstStyle>
          <a:p>
            <a:pPr defTabSz="1097212">
              <a:defRPr/>
            </a:pPr>
            <a:r>
              <a:rPr lang="en-US" altLang="x-none" sz="700" dirty="0">
                <a:solidFill>
                  <a:srgbClr val="FFFFFF"/>
                </a:solidFill>
                <a:latin typeface="Amazon Ember Display" panose="020F0603020204020204" pitchFamily="34" charset="0"/>
                <a:ea typeface="Amazon Ember Display" panose="020F0603020204020204" pitchFamily="34" charset="0"/>
                <a:cs typeface="Amazon Ember Display" panose="020F0603020204020204" pitchFamily="34" charset="0"/>
              </a:rPr>
              <a:t>© 2026, Amazon Web Services, Inc. or its affiliates. All rights reserved.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2FC9EB7C-8C08-E38A-FABD-6D57EC179345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5FC3149A-0B9F-A140-0717-F8AFD7C5055F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9600" y="2214366"/>
            <a:ext cx="4075134" cy="409627"/>
          </a:xfrm>
          <a:prstGeom prst="rect">
            <a:avLst/>
          </a:prstGeom>
        </p:spPr>
      </p:pic>
      <p:sp>
        <p:nvSpPr>
          <p:cNvPr id="6" name="Text Placeholder 9">
            <a:extLst>
              <a:ext uri="{FF2B5EF4-FFF2-40B4-BE49-F238E27FC236}">
                <a16:creationId xmlns:a16="http://schemas.microsoft.com/office/drawing/2014/main" id="{6E9B519D-E4DC-2DC9-10F9-89D5A47EC039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609600" y="1668779"/>
            <a:ext cx="5486400" cy="272161"/>
          </a:xfrm>
        </p:spPr>
        <p:txBody>
          <a:bodyPr/>
          <a:lstStyle>
            <a:lvl1pPr marL="0" indent="0">
              <a:buNone/>
              <a:defRPr sz="1200" b="0" spc="300" baseline="0">
                <a:latin typeface="Amazon Ember Mono" panose="020B0509020204020204" pitchFamily="49" charset="0"/>
                <a:ea typeface="Amazon Ember Mono" panose="020B0509020204020204" pitchFamily="49" charset="0"/>
                <a:cs typeface="Amazon Ember Mono" panose="020B0509020204020204" pitchFamily="49" charset="0"/>
              </a:defRPr>
            </a:lvl1pPr>
          </a:lstStyle>
          <a:p>
            <a:pPr lvl="0"/>
            <a:r>
              <a:rPr lang="en-US" dirty="0"/>
              <a:t>LOCATION | MONTH DD, 2026</a:t>
            </a:r>
          </a:p>
        </p:txBody>
      </p:sp>
      <p:sp>
        <p:nvSpPr>
          <p:cNvPr id="10" name="TextBox 3">
            <a:extLst>
              <a:ext uri="{FF2B5EF4-FFF2-40B4-BE49-F238E27FC236}">
                <a16:creationId xmlns:a16="http://schemas.microsoft.com/office/drawing/2014/main" id="{2597C28D-FBCC-2424-D102-6210C5A11516}"/>
              </a:ext>
            </a:extLst>
          </p:cNvPr>
          <p:cNvSpPr txBox="1">
            <a:spLocks noChangeArrowheads="1"/>
          </p:cNvSpPr>
          <p:nvPr userDrawn="1"/>
        </p:nvSpPr>
        <p:spPr bwMode="white">
          <a:xfrm>
            <a:off x="508423" y="6476853"/>
            <a:ext cx="3962400" cy="107722"/>
          </a:xfrm>
          <a:prstGeom prst="rect">
            <a:avLst/>
          </a:prstGeom>
          <a:noFill/>
          <a:ln>
            <a:noFill/>
          </a:ln>
        </p:spPr>
        <p:txBody>
          <a:bodyPr lIns="0" tIns="0" rIns="0" bIns="0">
            <a:spAutoFit/>
          </a:bodyPr>
          <a:lstStyle>
            <a:lvl1pPr>
              <a:defRPr>
                <a:solidFill>
                  <a:schemeClr val="tx1"/>
                </a:solidFill>
                <a:latin typeface="+mn-lt"/>
              </a:defRPr>
            </a:lvl1pPr>
            <a:lvl2pPr marL="742950" indent="-285750">
              <a:defRPr>
                <a:solidFill>
                  <a:schemeClr val="tx1"/>
                </a:solidFill>
                <a:latin typeface="+mn-lt"/>
              </a:defRPr>
            </a:lvl2pPr>
            <a:lvl3pPr marL="1143000" indent="-228600">
              <a:defRPr>
                <a:solidFill>
                  <a:schemeClr val="tx1"/>
                </a:solidFill>
                <a:latin typeface="+mn-lt"/>
              </a:defRPr>
            </a:lvl3pPr>
            <a:lvl4pPr marL="1600200" indent="-228600">
              <a:defRPr>
                <a:solidFill>
                  <a:schemeClr val="tx1"/>
                </a:solidFill>
                <a:latin typeface="+mn-lt"/>
              </a:defRPr>
            </a:lvl4pPr>
            <a:lvl5pPr marL="2057400" indent="-228600">
              <a:defRPr>
                <a:solidFill>
                  <a:schemeClr val="tx1"/>
                </a:solidFill>
                <a:latin typeface="+mn-lt"/>
              </a:defRPr>
            </a:lvl5pPr>
            <a:lvl6pPr marL="25146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+mn-lt"/>
              </a:defRPr>
            </a:lvl6pPr>
            <a:lvl7pPr marL="29718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+mn-lt"/>
              </a:defRPr>
            </a:lvl7pPr>
            <a:lvl8pPr marL="34290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+mn-lt"/>
              </a:defRPr>
            </a:lvl8pPr>
            <a:lvl9pPr marL="38862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+mn-lt"/>
              </a:defRPr>
            </a:lvl9pPr>
          </a:lstStyle>
          <a:p>
            <a:pPr defTabSz="1097212">
              <a:defRPr/>
            </a:pPr>
            <a:r>
              <a:rPr lang="en-US" altLang="x-none" sz="700" dirty="0">
                <a:solidFill>
                  <a:schemeClr val="bg1"/>
                </a:solidFill>
                <a:latin typeface="Amazon Ember Display" panose="020F0603020204020204" pitchFamily="34" charset="0"/>
                <a:ea typeface="Amazon Ember Display" panose="020F0603020204020204" pitchFamily="34" charset="0"/>
                <a:cs typeface="Amazon Ember Display" panose="020F0603020204020204" pitchFamily="34" charset="0"/>
              </a:rPr>
              <a:t>© 2026, Amazon Web Services, Inc. or its affiliates. All rights reserved.</a:t>
            </a:r>
          </a:p>
        </p:txBody>
      </p:sp>
    </p:spTree>
    <p:extLst>
      <p:ext uri="{BB962C8B-B14F-4D97-AF65-F5344CB8AC3E}">
        <p14:creationId xmlns:p14="http://schemas.microsoft.com/office/powerpoint/2010/main" val="1246159272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3" pos="360">
          <p15:clr>
            <a:srgbClr val="FBAE40"/>
          </p15:clr>
        </p15:guide>
        <p15:guide id="4" pos="7320">
          <p15:clr>
            <a:srgbClr val="FBAE40"/>
          </p15:clr>
        </p15:guide>
        <p15:guide id="7" orient="horz" pos="360">
          <p15:clr>
            <a:srgbClr val="FBAE40"/>
          </p15:clr>
        </p15:guide>
        <p15:guide id="8" orient="horz" pos="3960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3_Session Title -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C99E3731-32D7-5941-5B9C-330235042D40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20" name="Graphic 19">
            <a:extLst>
              <a:ext uri="{FF2B5EF4-FFF2-40B4-BE49-F238E27FC236}">
                <a16:creationId xmlns:a16="http://schemas.microsoft.com/office/drawing/2014/main" id="{18CDCB7D-71A3-ED22-9536-F14DE094E943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xmlns="" r:embed="rId4"/>
              </a:ext>
            </a:extLst>
          </a:blip>
          <a:stretch>
            <a:fillRect/>
          </a:stretch>
        </p:blipFill>
        <p:spPr>
          <a:xfrm>
            <a:off x="553304" y="537277"/>
            <a:ext cx="835752" cy="499786"/>
          </a:xfrm>
          <a:prstGeom prst="rect">
            <a:avLst/>
          </a:prstGeom>
        </p:spPr>
      </p:pic>
      <p:sp>
        <p:nvSpPr>
          <p:cNvPr id="22" name="Text Placeholder 21">
            <a:extLst>
              <a:ext uri="{FF2B5EF4-FFF2-40B4-BE49-F238E27FC236}">
                <a16:creationId xmlns:a16="http://schemas.microsoft.com/office/drawing/2014/main" id="{10306F47-F75A-E094-F378-8596F58755E6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471539" y="2085707"/>
            <a:ext cx="2992437" cy="235131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kumimoji="0" lang="en-US" sz="1200" b="0" i="0" u="none" strike="noStrike" kern="1200" cap="all" spc="300" normalizeH="0" baseline="0" dirty="0" smtClean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Amazon Ember Mono" panose="020B0509020204020204" pitchFamily="49" charset="0"/>
                <a:ea typeface="Amazon Ember Mono" panose="020B0509020204020204" pitchFamily="49" charset="0"/>
                <a:cs typeface="Amazon Ember Mono" panose="020B0509020204020204" pitchFamily="49" charset="0"/>
              </a:defRPr>
            </a:lvl1pPr>
          </a:lstStyle>
          <a:p>
            <a:pPr lvl="0"/>
            <a:r>
              <a:rPr lang="en-US" dirty="0"/>
              <a:t>ENTER SESSION ID</a:t>
            </a:r>
          </a:p>
        </p:txBody>
      </p:sp>
      <p:sp>
        <p:nvSpPr>
          <p:cNvPr id="26" name="Text Placeholder 21">
            <a:extLst>
              <a:ext uri="{FF2B5EF4-FFF2-40B4-BE49-F238E27FC236}">
                <a16:creationId xmlns:a16="http://schemas.microsoft.com/office/drawing/2014/main" id="{DB5B5569-531C-AC09-1F4D-AD5BB92DBC21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471539" y="4199409"/>
            <a:ext cx="3336188" cy="411161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kumimoji="0" lang="en-US" sz="2000" b="0" i="0" u="none" strike="noStrike" kern="1200" cap="none" spc="0" normalizeH="0" baseline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Amazon Ember Display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Speaker 1 name</a:t>
            </a:r>
          </a:p>
        </p:txBody>
      </p:sp>
      <p:sp>
        <p:nvSpPr>
          <p:cNvPr id="28" name="Text Placeholder 21">
            <a:extLst>
              <a:ext uri="{FF2B5EF4-FFF2-40B4-BE49-F238E27FC236}">
                <a16:creationId xmlns:a16="http://schemas.microsoft.com/office/drawing/2014/main" id="{8F8058FB-7DE1-1E26-AD33-0976C7D37F54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4087915" y="4199409"/>
            <a:ext cx="3336188" cy="411161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kumimoji="0" lang="en-US" sz="2000" b="0" i="0" u="none" strike="noStrike" kern="1200" cap="none" spc="0" normalizeH="0" baseline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Amazon Ember Display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Speaker 2 name</a:t>
            </a:r>
          </a:p>
        </p:txBody>
      </p:sp>
      <p:sp>
        <p:nvSpPr>
          <p:cNvPr id="30" name="Text Placeholder 21">
            <a:extLst>
              <a:ext uri="{FF2B5EF4-FFF2-40B4-BE49-F238E27FC236}">
                <a16:creationId xmlns:a16="http://schemas.microsoft.com/office/drawing/2014/main" id="{7AA478AA-C773-D6F5-0AF5-1B34A47E5437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7634339" y="4199409"/>
            <a:ext cx="3336188" cy="411161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kumimoji="0" lang="en-US" sz="2000" b="0" i="0" u="none" strike="noStrike" kern="1200" cap="none" spc="0" normalizeH="0" baseline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Amazon Ember Display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Speaker 3 name</a:t>
            </a:r>
          </a:p>
        </p:txBody>
      </p:sp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8C6F3716-61A2-F3CA-F24E-DE267987ACC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71539" y="2597342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GB" dirty="0"/>
              <a:t>Enter session title</a:t>
            </a:r>
            <a:endParaRPr lang="en-US" dirty="0"/>
          </a:p>
        </p:txBody>
      </p:sp>
      <p:sp>
        <p:nvSpPr>
          <p:cNvPr id="3" name="Text Placeholder 21">
            <a:extLst>
              <a:ext uri="{FF2B5EF4-FFF2-40B4-BE49-F238E27FC236}">
                <a16:creationId xmlns:a16="http://schemas.microsoft.com/office/drawing/2014/main" id="{736F04DF-3AC5-EBD3-58F9-4C43D87A191C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71539" y="4627756"/>
            <a:ext cx="3336188" cy="1163444"/>
          </a:xfrm>
          <a:prstGeom prst="rect">
            <a:avLst/>
          </a:prstGeom>
        </p:spPr>
        <p:txBody>
          <a:bodyPr/>
          <a:lstStyle>
            <a:lvl1pPr marL="0" marR="0" indent="0" algn="l" defTabSz="914400" rtl="0" eaLnBrk="1" fontAlgn="auto" latinLnBrk="0" hangingPunct="1">
              <a:lnSpc>
                <a:spcPts val="2100"/>
              </a:lnSpc>
              <a:spcBef>
                <a:spcPts val="0"/>
              </a:spcBef>
              <a:spcAft>
                <a:spcPts val="300"/>
              </a:spcAft>
              <a:buClr>
                <a:srgbClr val="FFFFFF"/>
              </a:buClr>
              <a:buSzPct val="90000"/>
              <a:buFont typeface="Amazon Ember Display" panose="020F0603020204020204" pitchFamily="34" charset="0"/>
              <a:buNone/>
              <a:tabLst/>
              <a:defRPr kumimoji="0" lang="en-US" sz="1200" b="0" i="0" u="none" strike="noStrike" kern="1200" cap="none" spc="0" normalizeH="0" baseline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Amazon Ember Display"/>
                <a:ea typeface="+mn-ea"/>
                <a:cs typeface="+mn-cs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ts val="2100"/>
              </a:lnSpc>
              <a:spcBef>
                <a:spcPts val="0"/>
              </a:spcBef>
              <a:spcAft>
                <a:spcPts val="300"/>
              </a:spcAft>
              <a:buClr>
                <a:srgbClr val="FFFFFF"/>
              </a:buClr>
              <a:buSzPct val="90000"/>
              <a:buFont typeface="Amazon Ember Display" panose="020F0603020204020204" pitchFamily="34" charset="0"/>
              <a:buNone/>
              <a:tabLst/>
              <a:defRPr/>
            </a:pPr>
            <a:r>
              <a:rPr lang="en-US" dirty="0"/>
              <a:t>Pronouns</a:t>
            </a:r>
            <a:br>
              <a:rPr lang="en-US" dirty="0"/>
            </a:br>
            <a:r>
              <a:rPr lang="en-US" dirty="0"/>
              <a:t>Job Title</a:t>
            </a:r>
            <a:br>
              <a:rPr lang="en-US" dirty="0"/>
            </a:br>
            <a:r>
              <a:rPr lang="en-US" dirty="0"/>
              <a:t>Company</a:t>
            </a:r>
          </a:p>
        </p:txBody>
      </p:sp>
      <p:sp>
        <p:nvSpPr>
          <p:cNvPr id="4" name="Text Placeholder 21">
            <a:extLst>
              <a:ext uri="{FF2B5EF4-FFF2-40B4-BE49-F238E27FC236}">
                <a16:creationId xmlns:a16="http://schemas.microsoft.com/office/drawing/2014/main" id="{B4E42576-352C-2BD6-1207-1E421B7326A9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4087915" y="4627756"/>
            <a:ext cx="3336188" cy="1163444"/>
          </a:xfrm>
          <a:prstGeom prst="rect">
            <a:avLst/>
          </a:prstGeom>
        </p:spPr>
        <p:txBody>
          <a:bodyPr/>
          <a:lstStyle>
            <a:lvl1pPr marL="0" marR="0" indent="0" algn="l" defTabSz="914400" rtl="0" eaLnBrk="1" fontAlgn="auto" latinLnBrk="0" hangingPunct="1">
              <a:lnSpc>
                <a:spcPts val="2100"/>
              </a:lnSpc>
              <a:spcBef>
                <a:spcPts val="0"/>
              </a:spcBef>
              <a:spcAft>
                <a:spcPts val="300"/>
              </a:spcAft>
              <a:buClr>
                <a:srgbClr val="FFFFFF"/>
              </a:buClr>
              <a:buSzPct val="90000"/>
              <a:buFont typeface="Amazon Ember Display" panose="020F0603020204020204" pitchFamily="34" charset="0"/>
              <a:buNone/>
              <a:tabLst/>
              <a:defRPr kumimoji="0" lang="en-US" sz="1200" b="0" i="0" u="none" strike="noStrike" kern="1200" cap="none" spc="0" normalizeH="0" baseline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Amazon Ember Display"/>
                <a:ea typeface="+mn-ea"/>
                <a:cs typeface="+mn-cs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ts val="2100"/>
              </a:lnSpc>
              <a:spcBef>
                <a:spcPts val="0"/>
              </a:spcBef>
              <a:spcAft>
                <a:spcPts val="300"/>
              </a:spcAft>
              <a:buClr>
                <a:srgbClr val="FFFFFF"/>
              </a:buClr>
              <a:buSzPct val="90000"/>
              <a:buFont typeface="Amazon Ember Display" panose="020F0603020204020204" pitchFamily="34" charset="0"/>
              <a:buNone/>
              <a:tabLst/>
              <a:defRPr/>
            </a:pPr>
            <a:r>
              <a:rPr lang="en-US"/>
              <a:t>Pronouns</a:t>
            </a:r>
            <a:br>
              <a:rPr lang="en-US"/>
            </a:br>
            <a:r>
              <a:rPr lang="en-US"/>
              <a:t>Job Title</a:t>
            </a:r>
            <a:br>
              <a:rPr lang="en-US"/>
            </a:br>
            <a:r>
              <a:rPr lang="en-US"/>
              <a:t>Company</a:t>
            </a:r>
          </a:p>
        </p:txBody>
      </p:sp>
      <p:sp>
        <p:nvSpPr>
          <p:cNvPr id="5" name="Text Placeholder 21">
            <a:extLst>
              <a:ext uri="{FF2B5EF4-FFF2-40B4-BE49-F238E27FC236}">
                <a16:creationId xmlns:a16="http://schemas.microsoft.com/office/drawing/2014/main" id="{9769752D-808F-28AE-B5B1-75AC72BBFDA5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7634339" y="4627756"/>
            <a:ext cx="3336188" cy="1163444"/>
          </a:xfrm>
          <a:prstGeom prst="rect">
            <a:avLst/>
          </a:prstGeom>
        </p:spPr>
        <p:txBody>
          <a:bodyPr/>
          <a:lstStyle>
            <a:lvl1pPr marL="0" marR="0" indent="0" algn="l" defTabSz="914400" rtl="0" eaLnBrk="1" fontAlgn="auto" latinLnBrk="0" hangingPunct="1">
              <a:lnSpc>
                <a:spcPts val="2100"/>
              </a:lnSpc>
              <a:spcBef>
                <a:spcPts val="0"/>
              </a:spcBef>
              <a:spcAft>
                <a:spcPts val="300"/>
              </a:spcAft>
              <a:buClr>
                <a:srgbClr val="FFFFFF"/>
              </a:buClr>
              <a:buSzPct val="90000"/>
              <a:buFont typeface="Amazon Ember Display" panose="020F0603020204020204" pitchFamily="34" charset="0"/>
              <a:buNone/>
              <a:tabLst/>
              <a:defRPr kumimoji="0" lang="en-US" sz="1200" b="0" i="0" u="none" strike="noStrike" kern="1200" cap="none" spc="0" normalizeH="0" baseline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Amazon Ember Display"/>
                <a:ea typeface="+mn-ea"/>
                <a:cs typeface="+mn-cs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ts val="2100"/>
              </a:lnSpc>
              <a:spcBef>
                <a:spcPts val="0"/>
              </a:spcBef>
              <a:spcAft>
                <a:spcPts val="300"/>
              </a:spcAft>
              <a:buClr>
                <a:srgbClr val="FFFFFF"/>
              </a:buClr>
              <a:buSzPct val="90000"/>
              <a:buFont typeface="Amazon Ember Display" panose="020F0603020204020204" pitchFamily="34" charset="0"/>
              <a:buNone/>
              <a:tabLst/>
              <a:defRPr/>
            </a:pPr>
            <a:r>
              <a:rPr lang="en-US"/>
              <a:t>Pronouns</a:t>
            </a:r>
            <a:br>
              <a:rPr lang="en-US"/>
            </a:br>
            <a:r>
              <a:rPr lang="en-US"/>
              <a:t>Job Title</a:t>
            </a:r>
            <a:br>
              <a:rPr lang="en-US"/>
            </a:br>
            <a:r>
              <a:rPr lang="en-US"/>
              <a:t>Company</a:t>
            </a:r>
          </a:p>
        </p:txBody>
      </p:sp>
      <p:sp>
        <p:nvSpPr>
          <p:cNvPr id="7" name="TextBox 3">
            <a:extLst>
              <a:ext uri="{FF2B5EF4-FFF2-40B4-BE49-F238E27FC236}">
                <a16:creationId xmlns:a16="http://schemas.microsoft.com/office/drawing/2014/main" id="{C3C547C9-6474-5F18-CEB2-C4159E7FB119}"/>
              </a:ext>
            </a:extLst>
          </p:cNvPr>
          <p:cNvSpPr txBox="1">
            <a:spLocks noChangeArrowheads="1"/>
          </p:cNvSpPr>
          <p:nvPr userDrawn="1"/>
        </p:nvSpPr>
        <p:spPr bwMode="white">
          <a:xfrm>
            <a:off x="508423" y="6476853"/>
            <a:ext cx="3962400" cy="107722"/>
          </a:xfrm>
          <a:prstGeom prst="rect">
            <a:avLst/>
          </a:prstGeom>
          <a:noFill/>
          <a:ln>
            <a:noFill/>
          </a:ln>
        </p:spPr>
        <p:txBody>
          <a:bodyPr lIns="0" tIns="0" rIns="0" bIns="0">
            <a:spAutoFit/>
          </a:bodyPr>
          <a:lstStyle>
            <a:lvl1pPr>
              <a:defRPr>
                <a:solidFill>
                  <a:schemeClr val="tx1"/>
                </a:solidFill>
                <a:latin typeface="+mn-lt"/>
              </a:defRPr>
            </a:lvl1pPr>
            <a:lvl2pPr marL="742950" indent="-285750">
              <a:defRPr>
                <a:solidFill>
                  <a:schemeClr val="tx1"/>
                </a:solidFill>
                <a:latin typeface="+mn-lt"/>
              </a:defRPr>
            </a:lvl2pPr>
            <a:lvl3pPr marL="1143000" indent="-228600">
              <a:defRPr>
                <a:solidFill>
                  <a:schemeClr val="tx1"/>
                </a:solidFill>
                <a:latin typeface="+mn-lt"/>
              </a:defRPr>
            </a:lvl3pPr>
            <a:lvl4pPr marL="1600200" indent="-228600">
              <a:defRPr>
                <a:solidFill>
                  <a:schemeClr val="tx1"/>
                </a:solidFill>
                <a:latin typeface="+mn-lt"/>
              </a:defRPr>
            </a:lvl4pPr>
            <a:lvl5pPr marL="2057400" indent="-228600">
              <a:defRPr>
                <a:solidFill>
                  <a:schemeClr val="tx1"/>
                </a:solidFill>
                <a:latin typeface="+mn-lt"/>
              </a:defRPr>
            </a:lvl5pPr>
            <a:lvl6pPr marL="25146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+mn-lt"/>
              </a:defRPr>
            </a:lvl6pPr>
            <a:lvl7pPr marL="29718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+mn-lt"/>
              </a:defRPr>
            </a:lvl7pPr>
            <a:lvl8pPr marL="34290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+mn-lt"/>
              </a:defRPr>
            </a:lvl8pPr>
            <a:lvl9pPr marL="38862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+mn-lt"/>
              </a:defRPr>
            </a:lvl9pPr>
          </a:lstStyle>
          <a:p>
            <a:pPr defTabSz="1097212">
              <a:defRPr/>
            </a:pPr>
            <a:r>
              <a:rPr lang="en-US" altLang="x-none" sz="700" dirty="0">
                <a:solidFill>
                  <a:schemeClr val="bg1"/>
                </a:solidFill>
                <a:latin typeface="Amazon Ember Display" panose="020F0603020204020204" pitchFamily="34" charset="0"/>
                <a:ea typeface="Amazon Ember Display" panose="020F0603020204020204" pitchFamily="34" charset="0"/>
                <a:cs typeface="Amazon Ember Display" panose="020F0603020204020204" pitchFamily="34" charset="0"/>
              </a:rPr>
              <a:t>© 2026, Amazon Web Services, Inc. or its affiliates. All rights reserved.</a:t>
            </a:r>
          </a:p>
        </p:txBody>
      </p:sp>
    </p:spTree>
    <p:extLst>
      <p:ext uri="{BB962C8B-B14F-4D97-AF65-F5344CB8AC3E}">
        <p14:creationId xmlns:p14="http://schemas.microsoft.com/office/powerpoint/2010/main" val="3968281932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4_Thank you &amp; QR co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867DFFD9-9768-7F4F-325A-55B91800B5E1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20" name="Graphic 19">
            <a:extLst>
              <a:ext uri="{FF2B5EF4-FFF2-40B4-BE49-F238E27FC236}">
                <a16:creationId xmlns:a16="http://schemas.microsoft.com/office/drawing/2014/main" id="{18CDCB7D-71A3-ED22-9536-F14DE094E943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xmlns="" r:embed="rId4"/>
              </a:ext>
            </a:extLst>
          </a:blip>
          <a:stretch>
            <a:fillRect/>
          </a:stretch>
        </p:blipFill>
        <p:spPr>
          <a:xfrm>
            <a:off x="567159" y="537277"/>
            <a:ext cx="835752" cy="499786"/>
          </a:xfrm>
          <a:prstGeom prst="rect">
            <a:avLst/>
          </a:prstGeom>
        </p:spPr>
      </p:pic>
      <p:sp>
        <p:nvSpPr>
          <p:cNvPr id="24" name="Text Placeholder 21">
            <a:extLst>
              <a:ext uri="{FF2B5EF4-FFF2-40B4-BE49-F238E27FC236}">
                <a16:creationId xmlns:a16="http://schemas.microsoft.com/office/drawing/2014/main" id="{4EB6E3B8-E9BA-E14B-C774-675B2E513DB6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472764" y="2732404"/>
            <a:ext cx="5484691" cy="1393191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kumimoji="0" lang="en-US" sz="6000" b="0" i="0" u="none" strike="noStrike" kern="1200" cap="none" spc="0" normalizeH="0" baseline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mazon Ember Display"/>
                <a:ea typeface="+mj-ea"/>
                <a:cs typeface="+mj-cs"/>
              </a:defRPr>
            </a:lvl1pPr>
          </a:lstStyle>
          <a:p>
            <a:pPr lvl="0"/>
            <a:r>
              <a:rPr lang="en-US" dirty="0"/>
              <a:t>Thank you</a:t>
            </a:r>
          </a:p>
        </p:txBody>
      </p:sp>
      <p:sp>
        <p:nvSpPr>
          <p:cNvPr id="2" name="Picture Placeholder 5">
            <a:extLst>
              <a:ext uri="{FF2B5EF4-FFF2-40B4-BE49-F238E27FC236}">
                <a16:creationId xmlns:a16="http://schemas.microsoft.com/office/drawing/2014/main" id="{5BCCF298-6D9D-5A97-1E1D-174718DACAD0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9019310" y="3315305"/>
            <a:ext cx="2147455" cy="2205524"/>
          </a:xfrm>
          <a:prstGeom prst="roundRect">
            <a:avLst>
              <a:gd name="adj" fmla="val 10690"/>
            </a:avLst>
          </a:prstGeom>
          <a:noFill/>
          <a:ln w="19050">
            <a:solidFill>
              <a:schemeClr val="bg2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DE9B5CF1-1E94-FD3E-C799-A79FB9849C42}"/>
              </a:ext>
            </a:extLst>
          </p:cNvPr>
          <p:cNvSpPr/>
          <p:nvPr userDrawn="1"/>
        </p:nvSpPr>
        <p:spPr>
          <a:xfrm>
            <a:off x="9019310" y="5669248"/>
            <a:ext cx="3174453" cy="832859"/>
          </a:xfrm>
          <a:prstGeom prst="rect">
            <a:avLst/>
          </a:prstGeom>
          <a:gradFill flip="none" rotWithShape="1">
            <a:gsLst>
              <a:gs pos="100000">
                <a:srgbClr val="002060">
                  <a:alpha val="56338"/>
                </a:srgbClr>
              </a:gs>
              <a:gs pos="17000">
                <a:srgbClr val="002060"/>
              </a:gs>
            </a:gsLst>
            <a:lin ang="1440000" scaled="0"/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828800" rIns="182880" rtlCol="0" anchor="ctr"/>
          <a:lstStyle/>
          <a:p>
            <a:pPr lvl="0">
              <a:lnSpc>
                <a:spcPct val="80000"/>
              </a:lnSpc>
            </a:pPr>
            <a:endParaRPr lang="en-US" sz="1600">
              <a:solidFill>
                <a:schemeClr val="bg1"/>
              </a:solidFill>
              <a:latin typeface="Amazon Ember Display" panose="020F0603020204020204" pitchFamily="34" charset="0"/>
              <a:ea typeface="Amazon Ember Display" panose="020F0603020204020204" pitchFamily="34" charset="0"/>
              <a:cs typeface="Amazon Ember Display" panose="020F0603020204020204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F1C1D28-90EA-4707-CF36-0DF2BDB85256}"/>
              </a:ext>
            </a:extLst>
          </p:cNvPr>
          <p:cNvSpPr txBox="1"/>
          <p:nvPr userDrawn="1"/>
        </p:nvSpPr>
        <p:spPr>
          <a:xfrm>
            <a:off x="9167149" y="5701878"/>
            <a:ext cx="3193114" cy="794064"/>
          </a:xfrm>
          <a:prstGeom prst="rect">
            <a:avLst/>
          </a:prstGeom>
          <a:noFill/>
        </p:spPr>
        <p:txBody>
          <a:bodyPr wrap="square" lIns="182880" tIns="146304" rIns="182880" bIns="146304" rtlCol="0">
            <a:spAutoFit/>
          </a:bodyPr>
          <a:lstStyle/>
          <a:p>
            <a:pPr algn="l">
              <a:lnSpc>
                <a:spcPct val="90000"/>
              </a:lnSpc>
              <a:spcAft>
                <a:spcPts val="1800"/>
              </a:spcAft>
            </a:pPr>
            <a:r>
              <a:rPr lang="en-US" sz="1800" b="0" dirty="0">
                <a:solidFill>
                  <a:schemeClr val="bg1"/>
                </a:solidFill>
                <a:latin typeface="Amazon Ember Display" panose="020F0603020204020204" pitchFamily="34" charset="0"/>
                <a:ea typeface="Amazon Ember Display" panose="020F0603020204020204" pitchFamily="34" charset="0"/>
                <a:cs typeface="Amazon Ember Display" panose="020F0603020204020204" pitchFamily="34" charset="0"/>
              </a:rPr>
              <a:t>Please complete the session survey</a:t>
            </a:r>
            <a:endParaRPr lang="en-US" sz="1800" b="0" u="none" dirty="0">
              <a:solidFill>
                <a:schemeClr val="bg1"/>
              </a:solidFill>
              <a:latin typeface="Amazon Ember Display" panose="020F0603020204020204" pitchFamily="34" charset="0"/>
              <a:ea typeface="Amazon Ember Display" panose="020F0603020204020204" pitchFamily="34" charset="0"/>
              <a:cs typeface="Amazon Ember Display" panose="020F0603020204020204" pitchFamily="34" charset="0"/>
            </a:endParaRPr>
          </a:p>
        </p:txBody>
      </p:sp>
      <p:sp>
        <p:nvSpPr>
          <p:cNvPr id="3" name="TextBox 3">
            <a:extLst>
              <a:ext uri="{FF2B5EF4-FFF2-40B4-BE49-F238E27FC236}">
                <a16:creationId xmlns:a16="http://schemas.microsoft.com/office/drawing/2014/main" id="{D615D50D-A081-F17E-0674-1D0B018513D2}"/>
              </a:ext>
            </a:extLst>
          </p:cNvPr>
          <p:cNvSpPr txBox="1">
            <a:spLocks noChangeArrowheads="1"/>
          </p:cNvSpPr>
          <p:nvPr userDrawn="1"/>
        </p:nvSpPr>
        <p:spPr bwMode="white">
          <a:xfrm>
            <a:off x="508423" y="6476853"/>
            <a:ext cx="3962400" cy="107722"/>
          </a:xfrm>
          <a:prstGeom prst="rect">
            <a:avLst/>
          </a:prstGeom>
          <a:noFill/>
          <a:ln>
            <a:noFill/>
          </a:ln>
        </p:spPr>
        <p:txBody>
          <a:bodyPr lIns="0" tIns="0" rIns="0" bIns="0">
            <a:spAutoFit/>
          </a:bodyPr>
          <a:lstStyle>
            <a:lvl1pPr>
              <a:defRPr>
                <a:solidFill>
                  <a:schemeClr val="tx1"/>
                </a:solidFill>
                <a:latin typeface="+mn-lt"/>
              </a:defRPr>
            </a:lvl1pPr>
            <a:lvl2pPr marL="742950" indent="-285750">
              <a:defRPr>
                <a:solidFill>
                  <a:schemeClr val="tx1"/>
                </a:solidFill>
                <a:latin typeface="+mn-lt"/>
              </a:defRPr>
            </a:lvl2pPr>
            <a:lvl3pPr marL="1143000" indent="-228600">
              <a:defRPr>
                <a:solidFill>
                  <a:schemeClr val="tx1"/>
                </a:solidFill>
                <a:latin typeface="+mn-lt"/>
              </a:defRPr>
            </a:lvl3pPr>
            <a:lvl4pPr marL="1600200" indent="-228600">
              <a:defRPr>
                <a:solidFill>
                  <a:schemeClr val="tx1"/>
                </a:solidFill>
                <a:latin typeface="+mn-lt"/>
              </a:defRPr>
            </a:lvl4pPr>
            <a:lvl5pPr marL="2057400" indent="-228600">
              <a:defRPr>
                <a:solidFill>
                  <a:schemeClr val="tx1"/>
                </a:solidFill>
                <a:latin typeface="+mn-lt"/>
              </a:defRPr>
            </a:lvl5pPr>
            <a:lvl6pPr marL="25146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+mn-lt"/>
              </a:defRPr>
            </a:lvl6pPr>
            <a:lvl7pPr marL="29718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+mn-lt"/>
              </a:defRPr>
            </a:lvl7pPr>
            <a:lvl8pPr marL="34290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+mn-lt"/>
              </a:defRPr>
            </a:lvl8pPr>
            <a:lvl9pPr marL="38862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+mn-lt"/>
              </a:defRPr>
            </a:lvl9pPr>
          </a:lstStyle>
          <a:p>
            <a:pPr defTabSz="1097212">
              <a:defRPr/>
            </a:pPr>
            <a:r>
              <a:rPr lang="en-US" altLang="x-none" sz="700" dirty="0">
                <a:solidFill>
                  <a:schemeClr val="bg1"/>
                </a:solidFill>
                <a:latin typeface="Amazon Ember Display" panose="020F0603020204020204" pitchFamily="34" charset="0"/>
                <a:ea typeface="Amazon Ember Display" panose="020F0603020204020204" pitchFamily="34" charset="0"/>
                <a:cs typeface="Amazon Ember Display" panose="020F0603020204020204" pitchFamily="34" charset="0"/>
              </a:rPr>
              <a:t>© 2026, Amazon Web Services, Inc. or its affiliates. All rights reserved.</a:t>
            </a:r>
          </a:p>
        </p:txBody>
      </p:sp>
    </p:spTree>
    <p:extLst>
      <p:ext uri="{BB962C8B-B14F-4D97-AF65-F5344CB8AC3E}">
        <p14:creationId xmlns:p14="http://schemas.microsoft.com/office/powerpoint/2010/main" val="175473340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Session Title -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AEDC71F3-75B6-9C0E-8A09-19F38A64F43A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20" name="Graphic 19">
            <a:extLst>
              <a:ext uri="{FF2B5EF4-FFF2-40B4-BE49-F238E27FC236}">
                <a16:creationId xmlns:a16="http://schemas.microsoft.com/office/drawing/2014/main" id="{18CDCB7D-71A3-ED22-9536-F14DE094E943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=""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53304" y="537277"/>
            <a:ext cx="835752" cy="499786"/>
          </a:xfrm>
          <a:prstGeom prst="rect">
            <a:avLst/>
          </a:prstGeom>
        </p:spPr>
      </p:pic>
      <p:sp>
        <p:nvSpPr>
          <p:cNvPr id="22" name="Text Placeholder 21">
            <a:extLst>
              <a:ext uri="{FF2B5EF4-FFF2-40B4-BE49-F238E27FC236}">
                <a16:creationId xmlns:a16="http://schemas.microsoft.com/office/drawing/2014/main" id="{10306F47-F75A-E094-F378-8596F58755E6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471539" y="2085707"/>
            <a:ext cx="2992437" cy="235131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kumimoji="0" lang="en-US" sz="1200" b="0" i="0" u="none" strike="noStrike" kern="1200" cap="all" spc="300" normalizeH="0" baseline="0" dirty="0" smtClean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Amazon Ember Mono" panose="020B0509020204020204" pitchFamily="49" charset="0"/>
                <a:ea typeface="Amazon Ember Mono" panose="020B0509020204020204" pitchFamily="49" charset="0"/>
                <a:cs typeface="Amazon Ember Mono" panose="020B0509020204020204" pitchFamily="49" charset="0"/>
              </a:defRPr>
            </a:lvl1pPr>
          </a:lstStyle>
          <a:p>
            <a:pPr lvl="0"/>
            <a:r>
              <a:rPr lang="en-US" dirty="0"/>
              <a:t>ENTER SESSION ID</a:t>
            </a:r>
          </a:p>
        </p:txBody>
      </p:sp>
      <p:sp>
        <p:nvSpPr>
          <p:cNvPr id="26" name="Text Placeholder 21">
            <a:extLst>
              <a:ext uri="{FF2B5EF4-FFF2-40B4-BE49-F238E27FC236}">
                <a16:creationId xmlns:a16="http://schemas.microsoft.com/office/drawing/2014/main" id="{DB5B5569-531C-AC09-1F4D-AD5BB92DBC21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471539" y="4199409"/>
            <a:ext cx="3336188" cy="411161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kumimoji="0" lang="en-US" sz="2000" b="0" i="0" u="none" strike="noStrike" kern="1200" cap="none" spc="0" normalizeH="0" baseline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Amazon Ember Display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Speaker 1 name</a:t>
            </a:r>
          </a:p>
        </p:txBody>
      </p:sp>
      <p:sp>
        <p:nvSpPr>
          <p:cNvPr id="28" name="Text Placeholder 21">
            <a:extLst>
              <a:ext uri="{FF2B5EF4-FFF2-40B4-BE49-F238E27FC236}">
                <a16:creationId xmlns:a16="http://schemas.microsoft.com/office/drawing/2014/main" id="{8F8058FB-7DE1-1E26-AD33-0976C7D37F54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4087915" y="4199409"/>
            <a:ext cx="3336188" cy="411161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kumimoji="0" lang="en-US" sz="2000" b="0" i="0" u="none" strike="noStrike" kern="1200" cap="none" spc="0" normalizeH="0" baseline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Amazon Ember Display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Speaker 2 name</a:t>
            </a:r>
          </a:p>
        </p:txBody>
      </p:sp>
      <p:sp>
        <p:nvSpPr>
          <p:cNvPr id="30" name="Text Placeholder 21">
            <a:extLst>
              <a:ext uri="{FF2B5EF4-FFF2-40B4-BE49-F238E27FC236}">
                <a16:creationId xmlns:a16="http://schemas.microsoft.com/office/drawing/2014/main" id="{7AA478AA-C773-D6F5-0AF5-1B34A47E5437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7634339" y="4199409"/>
            <a:ext cx="3336188" cy="411161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kumimoji="0" lang="en-US" sz="2000" b="0" i="0" u="none" strike="noStrike" kern="1200" cap="none" spc="0" normalizeH="0" baseline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Amazon Ember Display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Speaker 3 name</a:t>
            </a:r>
          </a:p>
        </p:txBody>
      </p:sp>
      <p:sp>
        <p:nvSpPr>
          <p:cNvPr id="3" name="Title Placeholder 1">
            <a:extLst>
              <a:ext uri="{FF2B5EF4-FFF2-40B4-BE49-F238E27FC236}">
                <a16:creationId xmlns:a16="http://schemas.microsoft.com/office/drawing/2014/main" id="{292B449A-5416-CD19-55E6-716FCEBA0A3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71539" y="2597342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GB" dirty="0"/>
              <a:t>Enter session title</a:t>
            </a:r>
            <a:endParaRPr lang="en-US" dirty="0"/>
          </a:p>
        </p:txBody>
      </p:sp>
      <p:sp>
        <p:nvSpPr>
          <p:cNvPr id="4" name="Text Placeholder 21">
            <a:extLst>
              <a:ext uri="{FF2B5EF4-FFF2-40B4-BE49-F238E27FC236}">
                <a16:creationId xmlns:a16="http://schemas.microsoft.com/office/drawing/2014/main" id="{56C37542-82BD-A8E3-AF9C-BC610B67CCCB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71539" y="4627756"/>
            <a:ext cx="3336188" cy="1163444"/>
          </a:xfrm>
          <a:prstGeom prst="rect">
            <a:avLst/>
          </a:prstGeom>
        </p:spPr>
        <p:txBody>
          <a:bodyPr/>
          <a:lstStyle>
            <a:lvl1pPr marL="0" marR="0" indent="0" algn="l" defTabSz="914400" rtl="0" eaLnBrk="1" fontAlgn="auto" latinLnBrk="0" hangingPunct="1">
              <a:lnSpc>
                <a:spcPts val="2100"/>
              </a:lnSpc>
              <a:spcBef>
                <a:spcPts val="0"/>
              </a:spcBef>
              <a:spcAft>
                <a:spcPts val="300"/>
              </a:spcAft>
              <a:buClr>
                <a:srgbClr val="FFFFFF"/>
              </a:buClr>
              <a:buSzPct val="90000"/>
              <a:buFont typeface="Amazon Ember Display" panose="020F0603020204020204" pitchFamily="34" charset="0"/>
              <a:buNone/>
              <a:tabLst/>
              <a:defRPr kumimoji="0" lang="en-US" sz="1200" b="0" i="0" u="none" strike="noStrike" kern="1200" cap="none" spc="0" normalizeH="0" baseline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Amazon Ember Display"/>
                <a:ea typeface="+mn-ea"/>
                <a:cs typeface="+mn-cs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ts val="2100"/>
              </a:lnSpc>
              <a:spcBef>
                <a:spcPts val="0"/>
              </a:spcBef>
              <a:spcAft>
                <a:spcPts val="300"/>
              </a:spcAft>
              <a:buClr>
                <a:srgbClr val="FFFFFF"/>
              </a:buClr>
              <a:buSzPct val="90000"/>
              <a:buFont typeface="Amazon Ember Display" panose="020F0603020204020204" pitchFamily="34" charset="0"/>
              <a:buNone/>
              <a:tabLst/>
              <a:defRPr/>
            </a:pPr>
            <a:r>
              <a:rPr lang="en-US" dirty="0"/>
              <a:t>Pronouns</a:t>
            </a:r>
            <a:br>
              <a:rPr lang="en-US" dirty="0"/>
            </a:br>
            <a:r>
              <a:rPr lang="en-US" dirty="0"/>
              <a:t>Job Title</a:t>
            </a:r>
            <a:br>
              <a:rPr lang="en-US" dirty="0"/>
            </a:br>
            <a:r>
              <a:rPr lang="en-US" dirty="0"/>
              <a:t>Company</a:t>
            </a:r>
          </a:p>
        </p:txBody>
      </p:sp>
      <p:sp>
        <p:nvSpPr>
          <p:cNvPr id="5" name="Text Placeholder 21">
            <a:extLst>
              <a:ext uri="{FF2B5EF4-FFF2-40B4-BE49-F238E27FC236}">
                <a16:creationId xmlns:a16="http://schemas.microsoft.com/office/drawing/2014/main" id="{46E40AEC-4583-06BB-4BD3-7538EF4DF028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4087915" y="4627756"/>
            <a:ext cx="3336188" cy="1163444"/>
          </a:xfrm>
          <a:prstGeom prst="rect">
            <a:avLst/>
          </a:prstGeom>
        </p:spPr>
        <p:txBody>
          <a:bodyPr/>
          <a:lstStyle>
            <a:lvl1pPr marL="0" marR="0" indent="0" algn="l" defTabSz="914400" rtl="0" eaLnBrk="1" fontAlgn="auto" latinLnBrk="0" hangingPunct="1">
              <a:lnSpc>
                <a:spcPts val="2100"/>
              </a:lnSpc>
              <a:spcBef>
                <a:spcPts val="0"/>
              </a:spcBef>
              <a:spcAft>
                <a:spcPts val="300"/>
              </a:spcAft>
              <a:buClr>
                <a:srgbClr val="FFFFFF"/>
              </a:buClr>
              <a:buSzPct val="90000"/>
              <a:buFont typeface="Amazon Ember Display" panose="020F0603020204020204" pitchFamily="34" charset="0"/>
              <a:buNone/>
              <a:tabLst/>
              <a:defRPr kumimoji="0" lang="en-US" sz="1200" b="0" i="0" u="none" strike="noStrike" kern="1200" cap="none" spc="0" normalizeH="0" baseline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Amazon Ember Display"/>
                <a:ea typeface="+mn-ea"/>
                <a:cs typeface="+mn-cs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ts val="2100"/>
              </a:lnSpc>
              <a:spcBef>
                <a:spcPts val="0"/>
              </a:spcBef>
              <a:spcAft>
                <a:spcPts val="300"/>
              </a:spcAft>
              <a:buClr>
                <a:srgbClr val="FFFFFF"/>
              </a:buClr>
              <a:buSzPct val="90000"/>
              <a:buFont typeface="Amazon Ember Display" panose="020F0603020204020204" pitchFamily="34" charset="0"/>
              <a:buNone/>
              <a:tabLst/>
              <a:defRPr/>
            </a:pPr>
            <a:r>
              <a:rPr lang="en-US"/>
              <a:t>Pronouns</a:t>
            </a:r>
            <a:br>
              <a:rPr lang="en-US"/>
            </a:br>
            <a:r>
              <a:rPr lang="en-US"/>
              <a:t>Job Title</a:t>
            </a:r>
            <a:br>
              <a:rPr lang="en-US"/>
            </a:br>
            <a:r>
              <a:rPr lang="en-US"/>
              <a:t>Company</a:t>
            </a:r>
          </a:p>
        </p:txBody>
      </p:sp>
      <p:sp>
        <p:nvSpPr>
          <p:cNvPr id="6" name="Text Placeholder 21">
            <a:extLst>
              <a:ext uri="{FF2B5EF4-FFF2-40B4-BE49-F238E27FC236}">
                <a16:creationId xmlns:a16="http://schemas.microsoft.com/office/drawing/2014/main" id="{D54F0366-B101-27F7-91AE-44638E627FAB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7634339" y="4627756"/>
            <a:ext cx="3336188" cy="1163444"/>
          </a:xfrm>
          <a:prstGeom prst="rect">
            <a:avLst/>
          </a:prstGeom>
        </p:spPr>
        <p:txBody>
          <a:bodyPr/>
          <a:lstStyle>
            <a:lvl1pPr marL="0" marR="0" indent="0" algn="l" defTabSz="914400" rtl="0" eaLnBrk="1" fontAlgn="auto" latinLnBrk="0" hangingPunct="1">
              <a:lnSpc>
                <a:spcPts val="2100"/>
              </a:lnSpc>
              <a:spcBef>
                <a:spcPts val="0"/>
              </a:spcBef>
              <a:spcAft>
                <a:spcPts val="300"/>
              </a:spcAft>
              <a:buClr>
                <a:srgbClr val="FFFFFF"/>
              </a:buClr>
              <a:buSzPct val="90000"/>
              <a:buFont typeface="Amazon Ember Display" panose="020F0603020204020204" pitchFamily="34" charset="0"/>
              <a:buNone/>
              <a:tabLst/>
              <a:defRPr kumimoji="0" lang="en-US" sz="1200" b="0" i="0" u="none" strike="noStrike" kern="1200" cap="none" spc="0" normalizeH="0" baseline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Amazon Ember Display"/>
                <a:ea typeface="+mn-ea"/>
                <a:cs typeface="+mn-cs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ts val="2100"/>
              </a:lnSpc>
              <a:spcBef>
                <a:spcPts val="0"/>
              </a:spcBef>
              <a:spcAft>
                <a:spcPts val="300"/>
              </a:spcAft>
              <a:buClr>
                <a:srgbClr val="FFFFFF"/>
              </a:buClr>
              <a:buSzPct val="90000"/>
              <a:buFont typeface="Amazon Ember Display" panose="020F0603020204020204" pitchFamily="34" charset="0"/>
              <a:buNone/>
              <a:tabLst/>
              <a:defRPr/>
            </a:pPr>
            <a:r>
              <a:rPr lang="en-US"/>
              <a:t>Pronouns</a:t>
            </a:r>
            <a:br>
              <a:rPr lang="en-US"/>
            </a:br>
            <a:r>
              <a:rPr lang="en-US"/>
              <a:t>Job Title</a:t>
            </a:r>
            <a:br>
              <a:rPr lang="en-US"/>
            </a:br>
            <a:r>
              <a:rPr lang="en-US"/>
              <a:t>Company</a:t>
            </a:r>
          </a:p>
        </p:txBody>
      </p:sp>
      <p:sp>
        <p:nvSpPr>
          <p:cNvPr id="7" name="TextBox 3">
            <a:extLst>
              <a:ext uri="{FF2B5EF4-FFF2-40B4-BE49-F238E27FC236}">
                <a16:creationId xmlns:a16="http://schemas.microsoft.com/office/drawing/2014/main" id="{31153ED5-0F25-AB68-21F6-BB5F2B94ED4D}"/>
              </a:ext>
            </a:extLst>
          </p:cNvPr>
          <p:cNvSpPr txBox="1">
            <a:spLocks noChangeArrowheads="1"/>
          </p:cNvSpPr>
          <p:nvPr userDrawn="1"/>
        </p:nvSpPr>
        <p:spPr bwMode="white">
          <a:xfrm>
            <a:off x="508423" y="6476853"/>
            <a:ext cx="3962400" cy="107722"/>
          </a:xfrm>
          <a:prstGeom prst="rect">
            <a:avLst/>
          </a:prstGeom>
          <a:noFill/>
          <a:ln>
            <a:noFill/>
          </a:ln>
        </p:spPr>
        <p:txBody>
          <a:bodyPr lIns="0" tIns="0" rIns="0" bIns="0">
            <a:spAutoFit/>
          </a:bodyPr>
          <a:lstStyle>
            <a:lvl1pPr>
              <a:defRPr>
                <a:solidFill>
                  <a:schemeClr val="tx1"/>
                </a:solidFill>
                <a:latin typeface="+mn-lt"/>
              </a:defRPr>
            </a:lvl1pPr>
            <a:lvl2pPr marL="742950" indent="-285750">
              <a:defRPr>
                <a:solidFill>
                  <a:schemeClr val="tx1"/>
                </a:solidFill>
                <a:latin typeface="+mn-lt"/>
              </a:defRPr>
            </a:lvl2pPr>
            <a:lvl3pPr marL="1143000" indent="-228600">
              <a:defRPr>
                <a:solidFill>
                  <a:schemeClr val="tx1"/>
                </a:solidFill>
                <a:latin typeface="+mn-lt"/>
              </a:defRPr>
            </a:lvl3pPr>
            <a:lvl4pPr marL="1600200" indent="-228600">
              <a:defRPr>
                <a:solidFill>
                  <a:schemeClr val="tx1"/>
                </a:solidFill>
                <a:latin typeface="+mn-lt"/>
              </a:defRPr>
            </a:lvl4pPr>
            <a:lvl5pPr marL="2057400" indent="-228600">
              <a:defRPr>
                <a:solidFill>
                  <a:schemeClr val="tx1"/>
                </a:solidFill>
                <a:latin typeface="+mn-lt"/>
              </a:defRPr>
            </a:lvl5pPr>
            <a:lvl6pPr marL="25146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+mn-lt"/>
              </a:defRPr>
            </a:lvl6pPr>
            <a:lvl7pPr marL="29718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+mn-lt"/>
              </a:defRPr>
            </a:lvl7pPr>
            <a:lvl8pPr marL="34290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+mn-lt"/>
              </a:defRPr>
            </a:lvl8pPr>
            <a:lvl9pPr marL="38862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+mn-lt"/>
              </a:defRPr>
            </a:lvl9pPr>
          </a:lstStyle>
          <a:p>
            <a:pPr defTabSz="1097212">
              <a:defRPr/>
            </a:pPr>
            <a:r>
              <a:rPr lang="en-US" altLang="x-none" sz="700" dirty="0">
                <a:solidFill>
                  <a:schemeClr val="bg1"/>
                </a:solidFill>
                <a:latin typeface="Amazon Ember Display" panose="020F0603020204020204" pitchFamily="34" charset="0"/>
                <a:ea typeface="Amazon Ember Display" panose="020F0603020204020204" pitchFamily="34" charset="0"/>
                <a:cs typeface="Amazon Ember Display" panose="020F0603020204020204" pitchFamily="34" charset="0"/>
              </a:rPr>
              <a:t>© 2026, Amazon Web Services, Inc. or its affiliates. All rights reserved.</a:t>
            </a:r>
          </a:p>
        </p:txBody>
      </p:sp>
    </p:spTree>
    <p:extLst>
      <p:ext uri="{BB962C8B-B14F-4D97-AF65-F5344CB8AC3E}">
        <p14:creationId xmlns:p14="http://schemas.microsoft.com/office/powerpoint/2010/main" val="364001355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DB39ACB3-D59F-D85A-2504-A3F13BD5D5B0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en-US" b="1" kern="0" spc="400" dirty="0">
                <a:solidFill>
                  <a:srgbClr val="00B4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AWS SUMMIT JOHANNESBURG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0390259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86A2BC9-48D2-489E-D9CA-04B377F4464D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en-US" dirty="0" smtClean="0"/>
              <a:t>Adeline </a:t>
            </a:r>
            <a:r>
              <a:rPr lang="en-US" dirty="0" err="1" smtClean="0"/>
              <a:t>Makokha</a:t>
            </a:r>
            <a:endParaRPr lang="en-US" dirty="0"/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EF630CEA-A50D-C64A-A6CB-A8BFC916CAD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1539" y="1694689"/>
            <a:ext cx="7658100" cy="1325563"/>
          </a:xfrm>
        </p:spPr>
        <p:txBody>
          <a:bodyPr>
            <a:normAutofit fontScale="90000"/>
          </a:bodyPr>
          <a:lstStyle/>
          <a:p>
            <a:pPr marL="0" indent="0">
              <a:lnSpc>
                <a:spcPct val="110000"/>
              </a:lnSpc>
            </a:pPr>
            <a:r>
              <a:rPr lang="en-US" b="1" dirty="0"/>
              <a:t>Use agent strategies to streamline complex business tasks</a:t>
            </a:r>
            <a:endParaRPr lang="en-US" dirty="0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D42961FB-349B-2A8A-5021-A1140F114B10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471538" y="4627756"/>
            <a:ext cx="3837571" cy="1475864"/>
          </a:xfrm>
        </p:spPr>
        <p:txBody>
          <a:bodyPr/>
          <a:lstStyle/>
          <a:p>
            <a:r>
              <a:rPr lang="en-US" sz="1600" dirty="0" smtClean="0"/>
              <a:t>Software Quality Engineer</a:t>
            </a:r>
          </a:p>
          <a:p>
            <a:r>
              <a:rPr lang="en-US" sz="1600" dirty="0" err="1" smtClean="0"/>
              <a:t>Safaricom</a:t>
            </a:r>
            <a:r>
              <a:rPr lang="en-US" sz="1600" dirty="0" smtClean="0"/>
              <a:t> PLC</a:t>
            </a:r>
          </a:p>
          <a:p>
            <a:r>
              <a:rPr lang="en-US" sz="1600" dirty="0" smtClean="0"/>
              <a:t>AWS Hero</a:t>
            </a:r>
            <a:endParaRPr lang="en-US" sz="1600" dirty="0"/>
          </a:p>
        </p:txBody>
      </p:sp>
    </p:spTree>
    <p:extLst>
      <p:ext uri="{BB962C8B-B14F-4D97-AF65-F5344CB8AC3E}">
        <p14:creationId xmlns:p14="http://schemas.microsoft.com/office/powerpoint/2010/main" val="382488819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D38D7315-3FF3-3A6F-C1F6-29C934FC9B3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328561" y="2208722"/>
            <a:ext cx="7609471" cy="1325563"/>
          </a:xfrm>
        </p:spPr>
        <p:txBody>
          <a:bodyPr>
            <a:normAutofit fontScale="90000"/>
          </a:bodyPr>
          <a:lstStyle/>
          <a:p>
            <a:r>
              <a:rPr lang="en-US" b="1" dirty="0"/>
              <a:t>Building a Memory-Powered</a:t>
            </a:r>
            <a:r>
              <a:rPr lang="en-US" dirty="0"/>
              <a:t/>
            </a:r>
            <a:br>
              <a:rPr lang="en-US" dirty="0"/>
            </a:br>
            <a:r>
              <a:rPr lang="en-US" b="1" dirty="0"/>
              <a:t>Multi-Agent Financial Advisor</a:t>
            </a:r>
            <a:r>
              <a:rPr lang="en-US" dirty="0"/>
              <a:t/>
            </a:r>
            <a:br>
              <a:rPr lang="en-US" dirty="0"/>
            </a:br>
            <a:endParaRPr lang="en-US" dirty="0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84E4C6E2-B85B-1A17-A71C-29D7581D209B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471538" y="4627756"/>
            <a:ext cx="6546481" cy="1163444"/>
          </a:xfrm>
        </p:spPr>
        <p:txBody>
          <a:bodyPr/>
          <a:lstStyle/>
          <a:p>
            <a:r>
              <a:rPr lang="en-US" sz="1600" dirty="0" smtClean="0"/>
              <a:t>With Strands SDK &amp; Amazon Bedrock</a:t>
            </a:r>
            <a:endParaRPr lang="en-US" sz="1600" dirty="0"/>
          </a:p>
        </p:txBody>
      </p:sp>
    </p:spTree>
    <p:extLst>
      <p:ext uri="{BB962C8B-B14F-4D97-AF65-F5344CB8AC3E}">
        <p14:creationId xmlns:p14="http://schemas.microsoft.com/office/powerpoint/2010/main" val="408362567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161E2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74320"/>
            <a:ext cx="914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aws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457200" y="822960"/>
            <a:ext cx="4572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Agenda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731520" y="1828800"/>
            <a:ext cx="502920" cy="502920"/>
          </a:xfrm>
          <a:prstGeom prst="ellipse">
            <a:avLst/>
          </a:prstGeom>
          <a:solidFill>
            <a:srgbClr val="FF6B6B"/>
          </a:solidFill>
          <a:ln/>
        </p:spPr>
      </p:sp>
      <p:sp>
        <p:nvSpPr>
          <p:cNvPr id="5" name="Text 3"/>
          <p:cNvSpPr/>
          <p:nvPr/>
        </p:nvSpPr>
        <p:spPr>
          <a:xfrm>
            <a:off x="731520" y="18288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1463040" y="1828800"/>
            <a:ext cx="7315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agents, not chatbots</a:t>
            </a:r>
            <a:endParaRPr lang="en-US" sz="2000" dirty="0"/>
          </a:p>
        </p:txBody>
      </p:sp>
      <p:sp>
        <p:nvSpPr>
          <p:cNvPr id="7" name="Shape 5"/>
          <p:cNvSpPr/>
          <p:nvPr/>
        </p:nvSpPr>
        <p:spPr>
          <a:xfrm>
            <a:off x="731520" y="2590800"/>
            <a:ext cx="502920" cy="502920"/>
          </a:xfrm>
          <a:prstGeom prst="ellipse">
            <a:avLst/>
          </a:prstGeom>
          <a:solidFill>
            <a:srgbClr val="00B4D8"/>
          </a:solidFill>
          <a:ln/>
        </p:spPr>
      </p:sp>
      <p:sp>
        <p:nvSpPr>
          <p:cNvPr id="8" name="Text 6"/>
          <p:cNvSpPr/>
          <p:nvPr/>
        </p:nvSpPr>
        <p:spPr>
          <a:xfrm>
            <a:off x="731520" y="25908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1463040" y="2590800"/>
            <a:ext cx="7315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multi-agent financial advisor</a:t>
            </a:r>
            <a:endParaRPr lang="en-US" sz="2000" dirty="0"/>
          </a:p>
        </p:txBody>
      </p:sp>
      <p:sp>
        <p:nvSpPr>
          <p:cNvPr id="10" name="Shape 8"/>
          <p:cNvSpPr/>
          <p:nvPr/>
        </p:nvSpPr>
        <p:spPr>
          <a:xfrm>
            <a:off x="731520" y="3352800"/>
            <a:ext cx="502920" cy="502920"/>
          </a:xfrm>
          <a:prstGeom prst="ellipse">
            <a:avLst/>
          </a:prstGeom>
          <a:solidFill>
            <a:srgbClr val="2EC4B6"/>
          </a:solidFill>
          <a:ln/>
        </p:spPr>
      </p:sp>
      <p:sp>
        <p:nvSpPr>
          <p:cNvPr id="11" name="Text 9"/>
          <p:cNvSpPr/>
          <p:nvPr/>
        </p:nvSpPr>
        <p:spPr>
          <a:xfrm>
            <a:off x="731520" y="33528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1463040" y="3352800"/>
            <a:ext cx="7315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Strands SDK: tools &amp; orchestration</a:t>
            </a:r>
            <a:endParaRPr lang="en-US" sz="2000" dirty="0"/>
          </a:p>
        </p:txBody>
      </p:sp>
      <p:sp>
        <p:nvSpPr>
          <p:cNvPr id="13" name="Shape 11"/>
          <p:cNvSpPr/>
          <p:nvPr/>
        </p:nvSpPr>
        <p:spPr>
          <a:xfrm>
            <a:off x="731520" y="4114800"/>
            <a:ext cx="502920" cy="502920"/>
          </a:xfrm>
          <a:prstGeom prst="ellipse">
            <a:avLst/>
          </a:prstGeom>
          <a:solidFill>
            <a:srgbClr val="8B5CF6"/>
          </a:solidFill>
          <a:ln/>
        </p:spPr>
      </p:sp>
      <p:sp>
        <p:nvSpPr>
          <p:cNvPr id="14" name="Text 12"/>
          <p:cNvSpPr/>
          <p:nvPr/>
        </p:nvSpPr>
        <p:spPr>
          <a:xfrm>
            <a:off x="731520" y="41148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1463040" y="4114800"/>
            <a:ext cx="7315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Production: memory, guardrails, deploy</a:t>
            </a:r>
            <a:endParaRPr lang="en-US" sz="2000" dirty="0"/>
          </a:p>
        </p:txBody>
      </p:sp>
      <p:sp>
        <p:nvSpPr>
          <p:cNvPr id="16" name="Shape 14"/>
          <p:cNvSpPr/>
          <p:nvPr/>
        </p:nvSpPr>
        <p:spPr>
          <a:xfrm>
            <a:off x="731520" y="5638800"/>
            <a:ext cx="502920" cy="502920"/>
          </a:xfrm>
          <a:prstGeom prst="ellipse">
            <a:avLst/>
          </a:prstGeom>
          <a:solidFill>
            <a:srgbClr val="F59E0B"/>
          </a:solidFill>
          <a:ln/>
        </p:spPr>
      </p:sp>
      <p:sp>
        <p:nvSpPr>
          <p:cNvPr id="17" name="Text 15"/>
          <p:cNvSpPr/>
          <p:nvPr/>
        </p:nvSpPr>
        <p:spPr>
          <a:xfrm>
            <a:off x="731520" y="56388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1463040" y="5638800"/>
            <a:ext cx="7315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takeaways &amp; resources</a:t>
            </a:r>
            <a:endParaRPr lang="en-US" sz="2000" dirty="0"/>
          </a:p>
        </p:txBody>
      </p:sp>
      <p:sp>
        <p:nvSpPr>
          <p:cNvPr id="20" name="Shape 18"/>
          <p:cNvSpPr/>
          <p:nvPr/>
        </p:nvSpPr>
        <p:spPr>
          <a:xfrm>
            <a:off x="731520" y="4876800"/>
            <a:ext cx="502920" cy="502920"/>
          </a:xfrm>
          <a:prstGeom prst="ellipse">
            <a:avLst/>
          </a:prstGeom>
          <a:solidFill>
            <a:srgbClr val="EC4899"/>
          </a:solidFill>
          <a:ln/>
        </p:spPr>
      </p:sp>
      <p:sp>
        <p:nvSpPr>
          <p:cNvPr id="21" name="Text 19"/>
          <p:cNvSpPr/>
          <p:nvPr/>
        </p:nvSpPr>
        <p:spPr>
          <a:xfrm>
            <a:off x="731520" y="48768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1463040" y="4876800"/>
            <a:ext cx="7315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demo: notebook &amp; web app</a:t>
            </a:r>
            <a:endParaRPr lang="en-US" sz="2000" dirty="0"/>
          </a:p>
        </p:txBody>
      </p:sp>
      <p:sp>
        <p:nvSpPr>
          <p:cNvPr id="19" name="Text 17"/>
          <p:cNvSpPr/>
          <p:nvPr/>
        </p:nvSpPr>
        <p:spPr>
          <a:xfrm>
            <a:off x="457200" y="64008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© 2026, Amazon Web Services, Inc. or its affiliates. All rights reserved.</a:t>
            </a:r>
            <a:endParaRPr lang="en-US" sz="7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61E2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2743200"/>
            <a:ext cx="137160" cy="1371600"/>
          </a:xfrm>
          <a:prstGeom prst="rect">
            <a:avLst/>
          </a:prstGeom>
          <a:solidFill>
            <a:srgbClr val="FF6B6B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2011680"/>
            <a:ext cx="9144000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5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agents,</a:t>
            </a:r>
            <a:endParaRPr lang="en-US" sz="52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5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chatbots?</a:t>
            </a:r>
            <a:endParaRPr lang="en-US" sz="5200" dirty="0"/>
          </a:p>
        </p:txBody>
      </p:sp>
      <p:sp>
        <p:nvSpPr>
          <p:cNvPr id="4" name="Text 2"/>
          <p:cNvSpPr/>
          <p:nvPr/>
        </p:nvSpPr>
        <p:spPr>
          <a:xfrm>
            <a:off x="365760" y="274320"/>
            <a:ext cx="914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aws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457200" y="64008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© 2026, Amazon Web Services, Inc. or its affiliates. All rights reserved.</a:t>
            </a:r>
            <a:endParaRPr lang="en-US" sz="7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61E2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74320"/>
            <a:ext cx="914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aws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457200" y="82296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Chatbots vs. AI agents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457200" y="1737360"/>
            <a:ext cx="5303520" cy="4114800"/>
          </a:xfrm>
          <a:prstGeom prst="roundRect">
            <a:avLst>
              <a:gd name="adj" fmla="val 3333"/>
            </a:avLst>
          </a:prstGeom>
          <a:solidFill>
            <a:srgbClr val="232B3E"/>
          </a:solidFill>
          <a:ln/>
        </p:spPr>
      </p:sp>
      <p:sp>
        <p:nvSpPr>
          <p:cNvPr id="5" name="Text 3"/>
          <p:cNvSpPr/>
          <p:nvPr/>
        </p:nvSpPr>
        <p:spPr>
          <a:xfrm>
            <a:off x="822960" y="201168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300" dirty="0">
                <a:solidFill>
                  <a:srgbClr val="FF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CHATBOT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822960" y="2560320"/>
            <a:ext cx="4572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Answers your question</a:t>
            </a:r>
            <a:endParaRPr lang="en-US" sz="2000" dirty="0"/>
          </a:p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 forgets you.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822960" y="3566160"/>
            <a:ext cx="45720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50000"/>
              </a:lnSpc>
              <a:buNone/>
            </a:pPr>
            <a:r>
              <a:rPr lang="en-US" sz="1600" dirty="0">
                <a:solidFill>
                  <a:srgbClr val="C8D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Single LLM call</a:t>
            </a:r>
            <a:endParaRPr lang="en-US" sz="1600" dirty="0"/>
          </a:p>
          <a:p>
            <a:pPr marL="0" indent="0">
              <a:lnSpc>
                <a:spcPct val="150000"/>
              </a:lnSpc>
              <a:buNone/>
            </a:pPr>
            <a:r>
              <a:rPr lang="en-US" sz="1600" dirty="0">
                <a:solidFill>
                  <a:srgbClr val="C8D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tool access</a:t>
            </a:r>
            <a:endParaRPr lang="en-US" sz="1600" dirty="0"/>
          </a:p>
          <a:p>
            <a:pPr marL="0" indent="0">
              <a:lnSpc>
                <a:spcPct val="150000"/>
              </a:lnSpc>
              <a:buNone/>
            </a:pPr>
            <a:r>
              <a:rPr lang="en-US" sz="1600" dirty="0">
                <a:solidFill>
                  <a:srgbClr val="C8D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memory</a:t>
            </a:r>
            <a:endParaRPr lang="en-US" sz="1600" dirty="0"/>
          </a:p>
          <a:p>
            <a:pPr marL="0" indent="0">
              <a:lnSpc>
                <a:spcPct val="150000"/>
              </a:lnSpc>
              <a:buNone/>
            </a:pPr>
            <a:r>
              <a:rPr lang="en-US" sz="1600" dirty="0">
                <a:solidFill>
                  <a:srgbClr val="C8D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looping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6400800" y="1737360"/>
            <a:ext cx="5303520" cy="4114800"/>
          </a:xfrm>
          <a:prstGeom prst="roundRect">
            <a:avLst>
              <a:gd name="adj" fmla="val 3333"/>
            </a:avLst>
          </a:prstGeom>
          <a:solidFill>
            <a:srgbClr val="232B3E"/>
          </a:solidFill>
          <a:ln w="19050">
            <a:solidFill>
              <a:srgbClr val="00B4D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766560" y="201168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300" dirty="0">
                <a:solidFill>
                  <a:srgbClr val="00B4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AGENT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6766560" y="2560320"/>
            <a:ext cx="4572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Takes actions, uses tools,</a:t>
            </a:r>
            <a:endParaRPr lang="en-US" sz="2000" dirty="0"/>
          </a:p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loops until the job is done.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6766560" y="3566160"/>
            <a:ext cx="45720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50000"/>
              </a:lnSpc>
              <a:buNone/>
            </a:pPr>
            <a:r>
              <a:rPr lang="en-US" sz="1600" dirty="0">
                <a:solidFill>
                  <a:srgbClr val="C8D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Perceive → read request + context</a:t>
            </a:r>
            <a:endParaRPr lang="en-US" sz="1600" dirty="0"/>
          </a:p>
          <a:p>
            <a:pPr marL="0" indent="0">
              <a:lnSpc>
                <a:spcPct val="150000"/>
              </a:lnSpc>
              <a:buNone/>
            </a:pPr>
            <a:r>
              <a:rPr lang="en-US" sz="1600" dirty="0">
                <a:solidFill>
                  <a:srgbClr val="C8D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 → reason, choose tools</a:t>
            </a:r>
            <a:endParaRPr lang="en-US" sz="1600" dirty="0"/>
          </a:p>
          <a:p>
            <a:pPr marL="0" indent="0">
              <a:lnSpc>
                <a:spcPct val="150000"/>
              </a:lnSpc>
              <a:buNone/>
            </a:pPr>
            <a:r>
              <a:rPr lang="en-US" sz="1600" dirty="0">
                <a:solidFill>
                  <a:srgbClr val="C8D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 → call tools, APIs, sub-agents</a:t>
            </a:r>
            <a:endParaRPr lang="en-US" sz="1600" dirty="0"/>
          </a:p>
          <a:p>
            <a:pPr marL="0" indent="0">
              <a:lnSpc>
                <a:spcPct val="150000"/>
              </a:lnSpc>
              <a:buNone/>
            </a:pPr>
            <a:r>
              <a:rPr lang="en-US" sz="1600" dirty="0">
                <a:solidFill>
                  <a:srgbClr val="C8D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Reflect → evaluate, loop or respond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457200" y="64008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© 2026, Amazon Web Services, Inc. or its affiliates. All rights reserved.</a:t>
            </a:r>
            <a:endParaRPr lang="en-US" sz="7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61E2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74320"/>
            <a:ext cx="914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aws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457200" y="82296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we're building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457200" y="155448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i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memory-powered multi-agent financial advisor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457200" y="2286000"/>
            <a:ext cx="11247120" cy="731520"/>
          </a:xfrm>
          <a:prstGeom prst="roundRect">
            <a:avLst>
              <a:gd name="adj" fmla="val 12500"/>
            </a:avLst>
          </a:prstGeom>
          <a:solidFill>
            <a:srgbClr val="232B3E"/>
          </a:solidFill>
          <a:ln/>
        </p:spPr>
      </p:sp>
      <p:sp>
        <p:nvSpPr>
          <p:cNvPr id="6" name="Text 4"/>
          <p:cNvSpPr/>
          <p:nvPr/>
        </p:nvSpPr>
        <p:spPr>
          <a:xfrm>
            <a:off x="640080" y="2286000"/>
            <a:ext cx="5486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</a:rPr>
              <a:t>💬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1371600" y="2286000"/>
            <a:ext cx="3200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Natural language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4572000" y="2286000"/>
            <a:ext cx="6858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C8D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"Should I rebalance my portfolio?"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457200" y="3154680"/>
            <a:ext cx="11247120" cy="731520"/>
          </a:xfrm>
          <a:prstGeom prst="roundRect">
            <a:avLst>
              <a:gd name="adj" fmla="val 12500"/>
            </a:avLst>
          </a:prstGeom>
          <a:solidFill>
            <a:srgbClr val="232B3E"/>
          </a:solidFill>
          <a:ln/>
        </p:spPr>
      </p:sp>
      <p:sp>
        <p:nvSpPr>
          <p:cNvPr id="10" name="Text 8"/>
          <p:cNvSpPr/>
          <p:nvPr/>
        </p:nvSpPr>
        <p:spPr>
          <a:xfrm>
            <a:off x="640080" y="3154680"/>
            <a:ext cx="5486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</a:rPr>
              <a:t>🤖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1371600" y="3154680"/>
            <a:ext cx="3200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Multi-agent delegation</a:t>
            </a:r>
            <a:endParaRPr lang="en-US" sz="1700" dirty="0"/>
          </a:p>
        </p:txBody>
      </p:sp>
      <p:sp>
        <p:nvSpPr>
          <p:cNvPr id="12" name="Text 10"/>
          <p:cNvSpPr/>
          <p:nvPr/>
        </p:nvSpPr>
        <p:spPr>
          <a:xfrm>
            <a:off x="4572000" y="3154680"/>
            <a:ext cx="6858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C8D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Portfolio, Market, and News specialists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457200" y="4023360"/>
            <a:ext cx="11247120" cy="731520"/>
          </a:xfrm>
          <a:prstGeom prst="roundRect">
            <a:avLst>
              <a:gd name="adj" fmla="val 12500"/>
            </a:avLst>
          </a:prstGeom>
          <a:solidFill>
            <a:srgbClr val="232B3E"/>
          </a:solidFill>
          <a:ln/>
        </p:spPr>
      </p:sp>
      <p:sp>
        <p:nvSpPr>
          <p:cNvPr id="14" name="Text 12"/>
          <p:cNvSpPr/>
          <p:nvPr/>
        </p:nvSpPr>
        <p:spPr>
          <a:xfrm>
            <a:off x="640080" y="4023360"/>
            <a:ext cx="5486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</a:rPr>
              <a:t>🛡️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1371600" y="4023360"/>
            <a:ext cx="3200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Compliance guardrails</a:t>
            </a:r>
            <a:endParaRPr lang="en-US" sz="1700" dirty="0"/>
          </a:p>
        </p:txBody>
      </p:sp>
      <p:sp>
        <p:nvSpPr>
          <p:cNvPr id="16" name="Text 14"/>
          <p:cNvSpPr/>
          <p:nvPr/>
        </p:nvSpPr>
        <p:spPr>
          <a:xfrm>
            <a:off x="4572000" y="4023360"/>
            <a:ext cx="6858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C8D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Amazon Bedrock Guardrails at every step</a:t>
            </a:r>
            <a:endParaRPr lang="en-US" sz="1500" dirty="0"/>
          </a:p>
        </p:txBody>
      </p:sp>
      <p:sp>
        <p:nvSpPr>
          <p:cNvPr id="17" name="Shape 15"/>
          <p:cNvSpPr/>
          <p:nvPr/>
        </p:nvSpPr>
        <p:spPr>
          <a:xfrm>
            <a:off x="457200" y="4892040"/>
            <a:ext cx="11247120" cy="731520"/>
          </a:xfrm>
          <a:prstGeom prst="roundRect">
            <a:avLst>
              <a:gd name="adj" fmla="val 12500"/>
            </a:avLst>
          </a:prstGeom>
          <a:solidFill>
            <a:srgbClr val="232B3E"/>
          </a:solidFill>
          <a:ln/>
        </p:spPr>
      </p:sp>
      <p:sp>
        <p:nvSpPr>
          <p:cNvPr id="18" name="Text 16"/>
          <p:cNvSpPr/>
          <p:nvPr/>
        </p:nvSpPr>
        <p:spPr>
          <a:xfrm>
            <a:off x="640080" y="4892040"/>
            <a:ext cx="5486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</a:rPr>
              <a:t>🧠</a:t>
            </a:r>
            <a:endParaRPr lang="en-US" sz="2200" dirty="0"/>
          </a:p>
        </p:txBody>
      </p:sp>
      <p:sp>
        <p:nvSpPr>
          <p:cNvPr id="19" name="Text 17"/>
          <p:cNvSpPr/>
          <p:nvPr/>
        </p:nvSpPr>
        <p:spPr>
          <a:xfrm>
            <a:off x="1371600" y="4892040"/>
            <a:ext cx="3200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Persistent memory</a:t>
            </a:r>
            <a:endParaRPr lang="en-US" sz="1700" dirty="0"/>
          </a:p>
        </p:txBody>
      </p:sp>
      <p:sp>
        <p:nvSpPr>
          <p:cNvPr id="20" name="Text 18"/>
          <p:cNvSpPr/>
          <p:nvPr/>
        </p:nvSpPr>
        <p:spPr>
          <a:xfrm>
            <a:off x="4572000" y="4892040"/>
            <a:ext cx="6858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C8D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 preferences across sessions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640080" y="5760720"/>
            <a:ext cx="5486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</a:rPr>
              <a:t>🚀</a:t>
            </a:r>
            <a:endParaRPr lang="en-US" sz="2200" dirty="0"/>
          </a:p>
        </p:txBody>
      </p:sp>
      <p:sp>
        <p:nvSpPr>
          <p:cNvPr id="23" name="Text 21"/>
          <p:cNvSpPr/>
          <p:nvPr/>
        </p:nvSpPr>
        <p:spPr>
          <a:xfrm>
            <a:off x="1371600" y="5760720"/>
            <a:ext cx="3200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700" dirty="0"/>
          </a:p>
        </p:txBody>
      </p:sp>
      <p:sp>
        <p:nvSpPr>
          <p:cNvPr id="24" name="Text 22"/>
          <p:cNvSpPr/>
          <p:nvPr/>
        </p:nvSpPr>
        <p:spPr>
          <a:xfrm>
            <a:off x="4572000" y="5760720"/>
            <a:ext cx="6858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500" dirty="0"/>
          </a:p>
        </p:txBody>
      </p:sp>
      <p:sp>
        <p:nvSpPr>
          <p:cNvPr id="25" name="Text 23"/>
          <p:cNvSpPr/>
          <p:nvPr/>
        </p:nvSpPr>
        <p:spPr>
          <a:xfrm>
            <a:off x="457200" y="64008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© 2026, Amazon Web Services, Inc. or its affiliates. All rights reserved.</a:t>
            </a:r>
            <a:endParaRPr lang="en-US" sz="7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61E2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74320"/>
            <a:ext cx="914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aws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457200" y="82296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full stack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457200" y="1828800"/>
            <a:ext cx="5486400" cy="1280160"/>
          </a:xfrm>
          <a:prstGeom prst="roundRect">
            <a:avLst>
              <a:gd name="adj" fmla="val 7143"/>
            </a:avLst>
          </a:prstGeom>
          <a:solidFill>
            <a:srgbClr val="232B3E"/>
          </a:solidFill>
          <a:ln/>
        </p:spPr>
      </p:sp>
      <p:sp>
        <p:nvSpPr>
          <p:cNvPr id="5" name="Shape 3"/>
          <p:cNvSpPr/>
          <p:nvPr/>
        </p:nvSpPr>
        <p:spPr>
          <a:xfrm>
            <a:off x="457200" y="1828800"/>
            <a:ext cx="109728" cy="1280160"/>
          </a:xfrm>
          <a:prstGeom prst="rect">
            <a:avLst/>
          </a:prstGeom>
          <a:solidFill>
            <a:srgbClr val="FF6B6B"/>
          </a:solidFill>
          <a:ln/>
        </p:spPr>
      </p:sp>
      <p:sp>
        <p:nvSpPr>
          <p:cNvPr id="6" name="Text 4"/>
          <p:cNvSpPr/>
          <p:nvPr/>
        </p:nvSpPr>
        <p:spPr>
          <a:xfrm>
            <a:off x="822960" y="1965960"/>
            <a:ext cx="4754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50" dirty="0">
                <a:solidFill>
                  <a:srgbClr val="FF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Agent Framework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822960" y="2286000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Strands Agents SDK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822960" y="2651760"/>
            <a:ext cx="4754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C8D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Open-source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57200" y="3383280"/>
            <a:ext cx="5486400" cy="1280160"/>
          </a:xfrm>
          <a:prstGeom prst="roundRect">
            <a:avLst>
              <a:gd name="adj" fmla="val 7143"/>
            </a:avLst>
          </a:prstGeom>
          <a:solidFill>
            <a:srgbClr val="232B3E"/>
          </a:solidFill>
          <a:ln/>
        </p:spPr>
      </p:sp>
      <p:sp>
        <p:nvSpPr>
          <p:cNvPr id="10" name="Shape 8"/>
          <p:cNvSpPr/>
          <p:nvPr/>
        </p:nvSpPr>
        <p:spPr>
          <a:xfrm>
            <a:off x="457200" y="3383280"/>
            <a:ext cx="109728" cy="1280160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11" name="Text 9"/>
          <p:cNvSpPr/>
          <p:nvPr/>
        </p:nvSpPr>
        <p:spPr>
          <a:xfrm>
            <a:off x="822960" y="3520440"/>
            <a:ext cx="4754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50" dirty="0">
                <a:solidFill>
                  <a:srgbClr val="00B4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Foundation Model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822960" y="3840480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 on Bedrock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822960" y="4206240"/>
            <a:ext cx="4754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C8D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Amazon Bedrock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457200" y="4937760"/>
            <a:ext cx="5486400" cy="1280160"/>
          </a:xfrm>
          <a:prstGeom prst="roundRect">
            <a:avLst>
              <a:gd name="adj" fmla="val 7143"/>
            </a:avLst>
          </a:prstGeom>
          <a:solidFill>
            <a:srgbClr val="232B3E"/>
          </a:solidFill>
          <a:ln/>
        </p:spPr>
      </p:sp>
      <p:sp>
        <p:nvSpPr>
          <p:cNvPr id="15" name="Shape 13"/>
          <p:cNvSpPr/>
          <p:nvPr/>
        </p:nvSpPr>
        <p:spPr>
          <a:xfrm>
            <a:off x="457200" y="4937760"/>
            <a:ext cx="109728" cy="1280160"/>
          </a:xfrm>
          <a:prstGeom prst="rect">
            <a:avLst/>
          </a:prstGeom>
          <a:solidFill>
            <a:srgbClr val="8B5CF6"/>
          </a:solidFill>
          <a:ln/>
        </p:spPr>
      </p:sp>
      <p:sp>
        <p:nvSpPr>
          <p:cNvPr id="16" name="Text 14"/>
          <p:cNvSpPr/>
          <p:nvPr/>
        </p:nvSpPr>
        <p:spPr>
          <a:xfrm>
            <a:off x="822960" y="5074920"/>
            <a:ext cx="4754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50" dirty="0">
                <a:solidFill>
                  <a:srgbClr val="8B5C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Safety Layer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822960" y="5394960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Bedrock Guardrails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822960" y="5760720"/>
            <a:ext cx="4754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C8D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 + output filtering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6309360" y="1828800"/>
            <a:ext cx="5486400" cy="1280160"/>
          </a:xfrm>
          <a:prstGeom prst="roundRect">
            <a:avLst>
              <a:gd name="adj" fmla="val 7143"/>
            </a:avLst>
          </a:prstGeom>
          <a:solidFill>
            <a:srgbClr val="232B3E"/>
          </a:solidFill>
          <a:ln/>
        </p:spPr>
      </p:sp>
      <p:sp>
        <p:nvSpPr>
          <p:cNvPr id="20" name="Shape 18"/>
          <p:cNvSpPr/>
          <p:nvPr/>
        </p:nvSpPr>
        <p:spPr>
          <a:xfrm>
            <a:off x="6309360" y="1828800"/>
            <a:ext cx="109728" cy="1280160"/>
          </a:xfrm>
          <a:prstGeom prst="rect">
            <a:avLst/>
          </a:prstGeom>
          <a:solidFill>
            <a:srgbClr val="2EC4B6"/>
          </a:solidFill>
          <a:ln/>
        </p:spPr>
      </p:sp>
      <p:sp>
        <p:nvSpPr>
          <p:cNvPr id="21" name="Text 19"/>
          <p:cNvSpPr/>
          <p:nvPr/>
        </p:nvSpPr>
        <p:spPr>
          <a:xfrm>
            <a:off x="6675120" y="1965960"/>
            <a:ext cx="4754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50" dirty="0">
                <a:solidFill>
                  <a:srgbClr val="2EC4B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Memory Layer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6675120" y="2286000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AgentCore Memory</a:t>
            </a: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6675120" y="2651760"/>
            <a:ext cx="4754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C8D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Persistent semantic store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6309360" y="3383280"/>
            <a:ext cx="5486400" cy="1280160"/>
          </a:xfrm>
          <a:prstGeom prst="roundRect">
            <a:avLst>
              <a:gd name="adj" fmla="val 7143"/>
            </a:avLst>
          </a:prstGeom>
          <a:solidFill>
            <a:srgbClr val="232B3E"/>
          </a:solidFill>
          <a:ln/>
        </p:spPr>
      </p:sp>
      <p:sp>
        <p:nvSpPr>
          <p:cNvPr id="25" name="Shape 23"/>
          <p:cNvSpPr/>
          <p:nvPr/>
        </p:nvSpPr>
        <p:spPr>
          <a:xfrm>
            <a:off x="6309360" y="3383280"/>
            <a:ext cx="109728" cy="1280160"/>
          </a:xfrm>
          <a:prstGeom prst="rect">
            <a:avLst/>
          </a:prstGeom>
          <a:solidFill>
            <a:srgbClr val="EC4899"/>
          </a:solidFill>
          <a:ln/>
        </p:spPr>
      </p:sp>
      <p:sp>
        <p:nvSpPr>
          <p:cNvPr id="26" name="Text 24"/>
          <p:cNvSpPr/>
          <p:nvPr/>
        </p:nvSpPr>
        <p:spPr>
          <a:xfrm>
            <a:off x="6675120" y="3520440"/>
            <a:ext cx="4754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50" dirty="0">
                <a:solidFill>
                  <a:srgbClr val="EC48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Runtime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6675120" y="3840480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AgentCore Runtime</a:t>
            </a:r>
            <a:endParaRPr lang="en-US" sz="1800" dirty="0"/>
          </a:p>
        </p:txBody>
      </p:sp>
      <p:sp>
        <p:nvSpPr>
          <p:cNvPr id="28" name="Text 26"/>
          <p:cNvSpPr/>
          <p:nvPr/>
        </p:nvSpPr>
        <p:spPr>
          <a:xfrm>
            <a:off x="6675120" y="4206240"/>
            <a:ext cx="4754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C8D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Serverless execution</a:t>
            </a:r>
            <a:endParaRPr lang="en-US" sz="1300" dirty="0"/>
          </a:p>
        </p:txBody>
      </p:sp>
      <p:sp>
        <p:nvSpPr>
          <p:cNvPr id="29" name="Shape 27"/>
          <p:cNvSpPr/>
          <p:nvPr/>
        </p:nvSpPr>
        <p:spPr>
          <a:xfrm>
            <a:off x="6309360" y="4937760"/>
            <a:ext cx="5486400" cy="1280160"/>
          </a:xfrm>
          <a:prstGeom prst="roundRect">
            <a:avLst>
              <a:gd name="adj" fmla="val 7143"/>
            </a:avLst>
          </a:prstGeom>
          <a:solidFill>
            <a:srgbClr val="232B3E"/>
          </a:solidFill>
          <a:ln/>
        </p:spPr>
      </p:sp>
      <p:sp>
        <p:nvSpPr>
          <p:cNvPr id="30" name="Shape 28"/>
          <p:cNvSpPr/>
          <p:nvPr/>
        </p:nvSpPr>
        <p:spPr>
          <a:xfrm>
            <a:off x="6309360" y="4937760"/>
            <a:ext cx="109728" cy="128016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31" name="Text 29"/>
          <p:cNvSpPr/>
          <p:nvPr/>
        </p:nvSpPr>
        <p:spPr>
          <a:xfrm>
            <a:off x="6675120" y="5074920"/>
            <a:ext cx="4754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50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Observability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6675120" y="5394960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CloudWatch</a:t>
            </a: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800" dirty="0"/>
          </a:p>
        </p:txBody>
      </p:sp>
      <p:sp>
        <p:nvSpPr>
          <p:cNvPr id="33" name="Text 31"/>
          <p:cNvSpPr/>
          <p:nvPr/>
        </p:nvSpPr>
        <p:spPr>
          <a:xfrm>
            <a:off x="6675120" y="5760720"/>
            <a:ext cx="4754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C8D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Tracing &amp; metrics</a:t>
            </a:r>
            <a:endParaRPr lang="en-US" sz="1300" dirty="0"/>
          </a:p>
        </p:txBody>
      </p:sp>
      <p:sp>
        <p:nvSpPr>
          <p:cNvPr id="34" name="Text 32"/>
          <p:cNvSpPr/>
          <p:nvPr/>
        </p:nvSpPr>
        <p:spPr>
          <a:xfrm>
            <a:off x="457200" y="64008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© 2026, Amazon Web Services, Inc. or its affiliates. All rights reserved.</a:t>
            </a:r>
            <a:endParaRPr lang="en-US" sz="7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61E2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2743200"/>
            <a:ext cx="137160" cy="1371600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2011680"/>
            <a:ext cx="9144000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5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Building</a:t>
            </a:r>
            <a:endParaRPr lang="en-US" sz="52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5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agent</a:t>
            </a:r>
            <a:endParaRPr lang="en-US" sz="5200" dirty="0"/>
          </a:p>
        </p:txBody>
      </p:sp>
      <p:sp>
        <p:nvSpPr>
          <p:cNvPr id="4" name="Text 2"/>
          <p:cNvSpPr/>
          <p:nvPr/>
        </p:nvSpPr>
        <p:spPr>
          <a:xfrm>
            <a:off x="365760" y="274320"/>
            <a:ext cx="914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aws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457200" y="64008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© 2026, Amazon Web Services, Inc. or its affiliates. All rights reserved.</a:t>
            </a:r>
            <a:endParaRPr lang="en-US" sz="7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61E2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74320"/>
            <a:ext cx="914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aws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457200" y="82296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Meet the Strands Agents SDK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457200" y="150876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C8D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Open-source Python framework from AWS Labs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457200" y="2103120"/>
            <a:ext cx="5029200" cy="502920"/>
          </a:xfrm>
          <a:prstGeom prst="roundRect">
            <a:avLst>
              <a:gd name="adj" fmla="val 14545"/>
            </a:avLst>
          </a:prstGeom>
          <a:solidFill>
            <a:srgbClr val="1E293B"/>
          </a:solidFill>
          <a:ln/>
        </p:spPr>
      </p:sp>
      <p:sp>
        <p:nvSpPr>
          <p:cNvPr id="6" name="Text 4"/>
          <p:cNvSpPr/>
          <p:nvPr/>
        </p:nvSpPr>
        <p:spPr>
          <a:xfrm>
            <a:off x="731520" y="2103120"/>
            <a:ext cx="4572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2EC4B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pip install strands-agents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457200" y="3017520"/>
            <a:ext cx="3566160" cy="3017520"/>
          </a:xfrm>
          <a:prstGeom prst="roundRect">
            <a:avLst>
              <a:gd name="adj" fmla="val 3636"/>
            </a:avLst>
          </a:prstGeom>
          <a:solidFill>
            <a:srgbClr val="232B3E"/>
          </a:solidFill>
          <a:ln/>
        </p:spPr>
      </p:sp>
      <p:sp>
        <p:nvSpPr>
          <p:cNvPr id="8" name="Shape 6"/>
          <p:cNvSpPr/>
          <p:nvPr/>
        </p:nvSpPr>
        <p:spPr>
          <a:xfrm>
            <a:off x="731520" y="3291840"/>
            <a:ext cx="457200" cy="457200"/>
          </a:xfrm>
          <a:prstGeom prst="ellipse">
            <a:avLst/>
          </a:prstGeom>
          <a:solidFill>
            <a:srgbClr val="FF6B6B"/>
          </a:solidFill>
          <a:ln/>
        </p:spPr>
      </p:sp>
      <p:sp>
        <p:nvSpPr>
          <p:cNvPr id="9" name="Text 7"/>
          <p:cNvSpPr/>
          <p:nvPr/>
        </p:nvSpPr>
        <p:spPr>
          <a:xfrm>
            <a:off x="731520" y="32918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1371600" y="3291840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@tool decorator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731520" y="4023360"/>
            <a:ext cx="301752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40000"/>
              </a:lnSpc>
              <a:buNone/>
            </a:pPr>
            <a:r>
              <a:rPr lang="en-US" sz="1400" dirty="0">
                <a:solidFill>
                  <a:srgbClr val="C8D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Parses type hints into JSON schema.</a:t>
            </a:r>
            <a:endParaRPr lang="en-US" sz="140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1400" dirty="0">
                <a:solidFill>
                  <a:srgbClr val="C8D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Docstring becomes the tool description.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4297680" y="3017520"/>
            <a:ext cx="3566160" cy="3017520"/>
          </a:xfrm>
          <a:prstGeom prst="roundRect">
            <a:avLst>
              <a:gd name="adj" fmla="val 3636"/>
            </a:avLst>
          </a:prstGeom>
          <a:solidFill>
            <a:srgbClr val="232B3E"/>
          </a:solidFill>
          <a:ln/>
        </p:spPr>
      </p:sp>
      <p:sp>
        <p:nvSpPr>
          <p:cNvPr id="13" name="Shape 11"/>
          <p:cNvSpPr/>
          <p:nvPr/>
        </p:nvSpPr>
        <p:spPr>
          <a:xfrm>
            <a:off x="4572000" y="3291840"/>
            <a:ext cx="457200" cy="457200"/>
          </a:xfrm>
          <a:prstGeom prst="ellipse">
            <a:avLst/>
          </a:prstGeom>
          <a:solidFill>
            <a:srgbClr val="00B4D8"/>
          </a:solidFill>
          <a:ln/>
        </p:spPr>
      </p:sp>
      <p:sp>
        <p:nvSpPr>
          <p:cNvPr id="14" name="Text 12"/>
          <p:cNvSpPr/>
          <p:nvPr/>
        </p:nvSpPr>
        <p:spPr>
          <a:xfrm>
            <a:off x="4572000" y="32918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5212080" y="3291840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class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4572000" y="4023360"/>
            <a:ext cx="301752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40000"/>
              </a:lnSpc>
              <a:buNone/>
            </a:pPr>
            <a:r>
              <a:rPr lang="en-US" sz="1400" dirty="0">
                <a:solidFill>
                  <a:srgbClr val="C8D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Handles the agentic loop.</a:t>
            </a:r>
            <a:endParaRPr lang="en-US" sz="140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1400" dirty="0">
                <a:solidFill>
                  <a:srgbClr val="C8D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define tools, it handles reasoning.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8138160" y="3017520"/>
            <a:ext cx="3566160" cy="3017520"/>
          </a:xfrm>
          <a:prstGeom prst="roundRect">
            <a:avLst>
              <a:gd name="adj" fmla="val 3636"/>
            </a:avLst>
          </a:prstGeom>
          <a:solidFill>
            <a:srgbClr val="232B3E"/>
          </a:solidFill>
          <a:ln/>
        </p:spPr>
      </p:sp>
      <p:sp>
        <p:nvSpPr>
          <p:cNvPr id="18" name="Shape 16"/>
          <p:cNvSpPr/>
          <p:nvPr/>
        </p:nvSpPr>
        <p:spPr>
          <a:xfrm>
            <a:off x="8412480" y="3291840"/>
            <a:ext cx="457200" cy="457200"/>
          </a:xfrm>
          <a:prstGeom prst="ellipse">
            <a:avLst/>
          </a:prstGeom>
          <a:solidFill>
            <a:srgbClr val="8B5CF6"/>
          </a:solidFill>
          <a:ln/>
        </p:spPr>
      </p:sp>
      <p:sp>
        <p:nvSpPr>
          <p:cNvPr id="19" name="Text 17"/>
          <p:cNvSpPr/>
          <p:nvPr/>
        </p:nvSpPr>
        <p:spPr>
          <a:xfrm>
            <a:off x="8412480" y="32918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9052560" y="3291840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BedrockModel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8412480" y="4023360"/>
            <a:ext cx="301752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40000"/>
              </a:lnSpc>
              <a:buNone/>
            </a:pPr>
            <a:r>
              <a:rPr lang="en-US" sz="1400" dirty="0">
                <a:solidFill>
                  <a:srgbClr val="C8D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Connect to Claude via Bedrock.</a:t>
            </a:r>
            <a:endParaRPr lang="en-US" sz="140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1400" dirty="0">
                <a:solidFill>
                  <a:srgbClr val="C8D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Optional guardrails built in.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457200" y="64008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© 2026, Amazon Web Services, Inc. or its affiliates. All rights reserved.</a:t>
            </a:r>
            <a:endParaRPr lang="en-US" sz="7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61E2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74320"/>
            <a:ext cx="914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aws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457200" y="82296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Define tools with @tool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457200" y="146304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C8D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imports and a decorator expose any Python function as a tool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457200" y="2011680"/>
            <a:ext cx="6858000" cy="4114800"/>
          </a:xfrm>
          <a:prstGeom prst="roundRect">
            <a:avLst>
              <a:gd name="adj" fmla="val 2667"/>
            </a:avLst>
          </a:prstGeom>
          <a:solidFill>
            <a:srgbClr val="1E293B"/>
          </a:solidFill>
          <a:ln/>
        </p:spPr>
      </p:sp>
      <p:sp>
        <p:nvSpPr>
          <p:cNvPr id="6" name="Text 4"/>
          <p:cNvSpPr/>
          <p:nvPr/>
        </p:nvSpPr>
        <p:spPr>
          <a:xfrm>
            <a:off x="822960" y="2194560"/>
            <a:ext cx="6217920" cy="3840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2EC4B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 strands import Agent, tool</a:t>
            </a:r>
            <a:endParaRPr lang="en-US" sz="1250" dirty="0"/>
          </a:p>
          <a:p>
            <a:pPr marL="0" indent="0">
              <a:lnSpc>
                <a:spcPct val="125000"/>
              </a:lnSpc>
              <a:buNone/>
            </a:pPr>
            <a:endParaRPr lang="en-US" sz="125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2EC4B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@tool</a:t>
            </a:r>
            <a:endParaRPr lang="en-US" sz="125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2EC4B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def get_portfolio_value(</a:t>
            </a:r>
            <a:endParaRPr lang="en-US" sz="125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2EC4B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client_id: str</a:t>
            </a:r>
            <a:endParaRPr lang="en-US" sz="125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2EC4B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 -&gt; dict:</a:t>
            </a:r>
            <a:endParaRPr lang="en-US" sz="125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2EC4B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"""Retrieve current portfolio value</a:t>
            </a:r>
            <a:endParaRPr lang="en-US" sz="125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2EC4B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and positions for a client."""</a:t>
            </a:r>
            <a:endParaRPr lang="en-US" sz="125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2EC4B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return fetch_portfolio_data(client_id)</a:t>
            </a:r>
            <a:endParaRPr lang="en-US" sz="1250" dirty="0"/>
          </a:p>
          <a:p>
            <a:pPr marL="0" indent="0">
              <a:lnSpc>
                <a:spcPct val="125000"/>
              </a:lnSpc>
              <a:buNone/>
            </a:pPr>
            <a:endParaRPr lang="en-US" sz="125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2EC4B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agent = Agent(</a:t>
            </a:r>
            <a:endParaRPr lang="en-US" sz="125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2EC4B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tools=[get_portfolio_value],</a:t>
            </a:r>
            <a:endParaRPr lang="en-US" sz="125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2EC4B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system_prompt="You are a financial advisor."</a:t>
            </a:r>
            <a:endParaRPr lang="en-US" sz="125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2EC4B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125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2EC4B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agent("What is my portfolio value?")</a:t>
            </a:r>
            <a:endParaRPr lang="en-US" sz="1250" dirty="0"/>
          </a:p>
        </p:txBody>
      </p:sp>
      <p:sp>
        <p:nvSpPr>
          <p:cNvPr id="7" name="Text 5"/>
          <p:cNvSpPr/>
          <p:nvPr/>
        </p:nvSpPr>
        <p:spPr>
          <a:xfrm>
            <a:off x="7772400" y="2194560"/>
            <a:ext cx="3931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it works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7772400" y="2880360"/>
            <a:ext cx="320040" cy="320040"/>
          </a:xfrm>
          <a:prstGeom prst="ellipse">
            <a:avLst/>
          </a:prstGeom>
          <a:solidFill>
            <a:srgbClr val="FF6B6B"/>
          </a:solidFill>
          <a:ln/>
        </p:spPr>
      </p:sp>
      <p:sp>
        <p:nvSpPr>
          <p:cNvPr id="9" name="Text 7"/>
          <p:cNvSpPr/>
          <p:nvPr/>
        </p:nvSpPr>
        <p:spPr>
          <a:xfrm>
            <a:off x="8321040" y="2834640"/>
            <a:ext cx="3474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 hints → JSON schema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7772400" y="3703320"/>
            <a:ext cx="320040" cy="320040"/>
          </a:xfrm>
          <a:prstGeom prst="ellipse">
            <a:avLst/>
          </a:prstGeom>
          <a:solidFill>
            <a:srgbClr val="00B4D8"/>
          </a:solidFill>
          <a:ln/>
        </p:spPr>
      </p:sp>
      <p:sp>
        <p:nvSpPr>
          <p:cNvPr id="11" name="Text 9"/>
          <p:cNvSpPr/>
          <p:nvPr/>
        </p:nvSpPr>
        <p:spPr>
          <a:xfrm>
            <a:off x="8321040" y="3657600"/>
            <a:ext cx="3474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Docstring → tool description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7772400" y="4526280"/>
            <a:ext cx="320040" cy="320040"/>
          </a:xfrm>
          <a:prstGeom prst="ellipse">
            <a:avLst/>
          </a:prstGeom>
          <a:solidFill>
            <a:srgbClr val="8B5CF6"/>
          </a:solidFill>
          <a:ln/>
        </p:spPr>
      </p:sp>
      <p:sp>
        <p:nvSpPr>
          <p:cNvPr id="13" name="Text 11"/>
          <p:cNvSpPr/>
          <p:nvPr/>
        </p:nvSpPr>
        <p:spPr>
          <a:xfrm>
            <a:off x="8321040" y="4480560"/>
            <a:ext cx="3474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decides when to call</a:t>
            </a:r>
            <a:endParaRPr lang="en-US" sz="1500" dirty="0"/>
          </a:p>
        </p:txBody>
      </p:sp>
      <p:sp>
        <p:nvSpPr>
          <p:cNvPr id="14" name="Shape 12"/>
          <p:cNvSpPr/>
          <p:nvPr/>
        </p:nvSpPr>
        <p:spPr>
          <a:xfrm>
            <a:off x="7772400" y="5349240"/>
            <a:ext cx="320040" cy="320040"/>
          </a:xfrm>
          <a:prstGeom prst="ellipse">
            <a:avLst/>
          </a:prstGeom>
          <a:solidFill>
            <a:srgbClr val="2EC4B6"/>
          </a:solidFill>
          <a:ln/>
        </p:spPr>
      </p:sp>
      <p:sp>
        <p:nvSpPr>
          <p:cNvPr id="15" name="Text 13"/>
          <p:cNvSpPr/>
          <p:nvPr/>
        </p:nvSpPr>
        <p:spPr>
          <a:xfrm>
            <a:off x="8321040" y="5303520"/>
            <a:ext cx="3474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YAML, no config files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457200" y="64008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© 2026, Amazon Web Services, Inc. or its affiliates. All rights reserved.</a:t>
            </a:r>
            <a:endParaRPr lang="en-US" sz="7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61E2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74320"/>
            <a:ext cx="914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aws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457200" y="82296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Specialist sub-agents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457200" y="146304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C8D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Split responsibilities — each specialist gets only the tools it needs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457200" y="2103120"/>
            <a:ext cx="3566160" cy="3931920"/>
          </a:xfrm>
          <a:prstGeom prst="roundRect">
            <a:avLst>
              <a:gd name="adj" fmla="val 3077"/>
            </a:avLst>
          </a:prstGeom>
          <a:solidFill>
            <a:srgbClr val="232B3E"/>
          </a:solidFill>
          <a:ln/>
        </p:spPr>
      </p:sp>
      <p:sp>
        <p:nvSpPr>
          <p:cNvPr id="6" name="Text 4"/>
          <p:cNvSpPr/>
          <p:nvPr/>
        </p:nvSpPr>
        <p:spPr>
          <a:xfrm>
            <a:off x="1645920" y="2377440"/>
            <a:ext cx="1188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600" dirty="0">
                <a:solidFill>
                  <a:srgbClr val="000000"/>
                </a:solidFill>
              </a:rPr>
              <a:t>📊</a:t>
            </a:r>
            <a:endParaRPr lang="en-US" sz="3600" dirty="0"/>
          </a:p>
        </p:txBody>
      </p:sp>
      <p:sp>
        <p:nvSpPr>
          <p:cNvPr id="7" name="Text 5"/>
          <p:cNvSpPr/>
          <p:nvPr/>
        </p:nvSpPr>
        <p:spPr>
          <a:xfrm>
            <a:off x="731520" y="3200400"/>
            <a:ext cx="3017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Portfolio</a:t>
            </a:r>
            <a:endParaRPr lang="en-US" sz="1800" dirty="0"/>
          </a:p>
          <a:p>
            <a:pPr marL="0" indent="0" algn="ctr">
              <a:lnSpc>
                <a:spcPct val="110000"/>
              </a:lnSpc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Specialist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731520" y="4114800"/>
            <a:ext cx="3017520" cy="640080"/>
          </a:xfrm>
          <a:prstGeom prst="roundRect">
            <a:avLst>
              <a:gd name="adj" fmla="val 8571"/>
            </a:avLst>
          </a:prstGeom>
          <a:solidFill>
            <a:srgbClr val="1E293B"/>
          </a:solidFill>
          <a:ln/>
        </p:spPr>
      </p:sp>
      <p:sp>
        <p:nvSpPr>
          <p:cNvPr id="9" name="Text 7"/>
          <p:cNvSpPr/>
          <p:nvPr/>
        </p:nvSpPr>
        <p:spPr>
          <a:xfrm>
            <a:off x="914400" y="4114800"/>
            <a:ext cx="2651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6B6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get_portfolio_value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FF6B6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get_risk_analysis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731520" y="4937760"/>
            <a:ext cx="3017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30000"/>
              </a:lnSpc>
              <a:buNone/>
            </a:pPr>
            <a:r>
              <a:rPr lang="en-US" sz="1400" dirty="0">
                <a:solidFill>
                  <a:srgbClr val="C8D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Holdings, risk metrics,</a:t>
            </a:r>
            <a:endParaRPr lang="en-US" sz="1400" dirty="0"/>
          </a:p>
          <a:p>
            <a:pPr marL="0" indent="0" algn="ctr">
              <a:lnSpc>
                <a:spcPct val="130000"/>
              </a:lnSpc>
              <a:buNone/>
            </a:pPr>
            <a:r>
              <a:rPr lang="en-US" sz="1400" dirty="0">
                <a:solidFill>
                  <a:srgbClr val="C8D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P&amp;L analysis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4297680" y="2103120"/>
            <a:ext cx="3566160" cy="3931920"/>
          </a:xfrm>
          <a:prstGeom prst="roundRect">
            <a:avLst>
              <a:gd name="adj" fmla="val 3077"/>
            </a:avLst>
          </a:prstGeom>
          <a:solidFill>
            <a:srgbClr val="232B3E"/>
          </a:solidFill>
          <a:ln/>
        </p:spPr>
      </p:sp>
      <p:sp>
        <p:nvSpPr>
          <p:cNvPr id="12" name="Text 10"/>
          <p:cNvSpPr/>
          <p:nvPr/>
        </p:nvSpPr>
        <p:spPr>
          <a:xfrm>
            <a:off x="5486400" y="2377440"/>
            <a:ext cx="1188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600" dirty="0">
                <a:solidFill>
                  <a:srgbClr val="000000"/>
                </a:solidFill>
              </a:rPr>
              <a:t>📈</a:t>
            </a:r>
            <a:endParaRPr lang="en-US" sz="3600" dirty="0"/>
          </a:p>
        </p:txBody>
      </p:sp>
      <p:sp>
        <p:nvSpPr>
          <p:cNvPr id="13" name="Text 11"/>
          <p:cNvSpPr/>
          <p:nvPr/>
        </p:nvSpPr>
        <p:spPr>
          <a:xfrm>
            <a:off x="4572000" y="3200400"/>
            <a:ext cx="3017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 Data</a:t>
            </a:r>
            <a:endParaRPr lang="en-US" sz="1800" dirty="0"/>
          </a:p>
          <a:p>
            <a:pPr marL="0" indent="0" algn="ctr">
              <a:lnSpc>
                <a:spcPct val="110000"/>
              </a:lnSpc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Specialist</a:t>
            </a:r>
            <a:endParaRPr lang="en-US" sz="1800" dirty="0"/>
          </a:p>
        </p:txBody>
      </p:sp>
      <p:sp>
        <p:nvSpPr>
          <p:cNvPr id="14" name="Shape 12"/>
          <p:cNvSpPr/>
          <p:nvPr/>
        </p:nvSpPr>
        <p:spPr>
          <a:xfrm>
            <a:off x="4572000" y="4114800"/>
            <a:ext cx="3017520" cy="640080"/>
          </a:xfrm>
          <a:prstGeom prst="roundRect">
            <a:avLst>
              <a:gd name="adj" fmla="val 8571"/>
            </a:avLst>
          </a:prstGeom>
          <a:solidFill>
            <a:srgbClr val="1E293B"/>
          </a:solidFill>
          <a:ln/>
        </p:spPr>
      </p:sp>
      <p:sp>
        <p:nvSpPr>
          <p:cNvPr id="15" name="Text 13"/>
          <p:cNvSpPr/>
          <p:nvPr/>
        </p:nvSpPr>
        <p:spPr>
          <a:xfrm>
            <a:off x="4754880" y="4114800"/>
            <a:ext cx="2651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00B4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get_market_data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4572000" y="4937760"/>
            <a:ext cx="3017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30000"/>
              </a:lnSpc>
              <a:buNone/>
            </a:pPr>
            <a:r>
              <a:rPr lang="en-US" sz="1400" dirty="0">
                <a:solidFill>
                  <a:srgbClr val="C8D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prices, 52-week</a:t>
            </a:r>
            <a:endParaRPr lang="en-US" sz="1400" dirty="0"/>
          </a:p>
          <a:p>
            <a:pPr marL="0" indent="0" algn="ctr">
              <a:lnSpc>
                <a:spcPct val="130000"/>
              </a:lnSpc>
              <a:buNone/>
            </a:pPr>
            <a:r>
              <a:rPr lang="en-US" sz="1400" dirty="0">
                <a:solidFill>
                  <a:srgbClr val="C8D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ranges, key indices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8138160" y="2103120"/>
            <a:ext cx="3566160" cy="3931920"/>
          </a:xfrm>
          <a:prstGeom prst="roundRect">
            <a:avLst>
              <a:gd name="adj" fmla="val 3077"/>
            </a:avLst>
          </a:prstGeom>
          <a:solidFill>
            <a:srgbClr val="232B3E"/>
          </a:solidFill>
          <a:ln/>
        </p:spPr>
      </p:sp>
      <p:sp>
        <p:nvSpPr>
          <p:cNvPr id="18" name="Text 16"/>
          <p:cNvSpPr/>
          <p:nvPr/>
        </p:nvSpPr>
        <p:spPr>
          <a:xfrm>
            <a:off x="9326880" y="2377440"/>
            <a:ext cx="1188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600" dirty="0">
                <a:solidFill>
                  <a:srgbClr val="000000"/>
                </a:solidFill>
              </a:rPr>
              <a:t>📰</a:t>
            </a:r>
            <a:endParaRPr lang="en-US" sz="3600" dirty="0"/>
          </a:p>
        </p:txBody>
      </p:sp>
      <p:sp>
        <p:nvSpPr>
          <p:cNvPr id="19" name="Text 17"/>
          <p:cNvSpPr/>
          <p:nvPr/>
        </p:nvSpPr>
        <p:spPr>
          <a:xfrm>
            <a:off x="8412480" y="3200400"/>
            <a:ext cx="3017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News</a:t>
            </a:r>
            <a:endParaRPr lang="en-US" sz="1800" dirty="0"/>
          </a:p>
          <a:p>
            <a:pPr marL="0" indent="0" algn="ctr">
              <a:lnSpc>
                <a:spcPct val="110000"/>
              </a:lnSpc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Analyst</a:t>
            </a:r>
            <a:endParaRPr lang="en-US" sz="1800" dirty="0"/>
          </a:p>
        </p:txBody>
      </p:sp>
      <p:sp>
        <p:nvSpPr>
          <p:cNvPr id="20" name="Shape 18"/>
          <p:cNvSpPr/>
          <p:nvPr/>
        </p:nvSpPr>
        <p:spPr>
          <a:xfrm>
            <a:off x="8412480" y="4114800"/>
            <a:ext cx="3017520" cy="640080"/>
          </a:xfrm>
          <a:prstGeom prst="roundRect">
            <a:avLst>
              <a:gd name="adj" fmla="val 8571"/>
            </a:avLst>
          </a:prstGeom>
          <a:solidFill>
            <a:srgbClr val="1E293B"/>
          </a:solidFill>
          <a:ln/>
        </p:spPr>
      </p:sp>
      <p:sp>
        <p:nvSpPr>
          <p:cNvPr id="21" name="Text 19"/>
          <p:cNvSpPr/>
          <p:nvPr/>
        </p:nvSpPr>
        <p:spPr>
          <a:xfrm>
            <a:off x="8595360" y="4114800"/>
            <a:ext cx="2651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8B5C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get_financial_news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8412480" y="4937760"/>
            <a:ext cx="3017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30000"/>
              </a:lnSpc>
              <a:buNone/>
            </a:pPr>
            <a:r>
              <a:rPr lang="en-US" sz="1400" dirty="0">
                <a:solidFill>
                  <a:srgbClr val="C8D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Recent headlines,</a:t>
            </a:r>
            <a:endParaRPr lang="en-US" sz="1400" dirty="0"/>
          </a:p>
          <a:p>
            <a:pPr marL="0" indent="0" algn="ctr">
              <a:lnSpc>
                <a:spcPct val="130000"/>
              </a:lnSpc>
              <a:buNone/>
            </a:pPr>
            <a:r>
              <a:rPr lang="en-US" sz="1400" dirty="0">
                <a:solidFill>
                  <a:srgbClr val="C8D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sentiment analysis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457200" y="64008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© 2026, Amazon Web Services, Inc. or its affiliates. All rights reserved.</a:t>
            </a:r>
            <a:endParaRPr lang="en-US" sz="7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61E2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74320"/>
            <a:ext cx="914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aws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457200" y="82296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orchestrator pattern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457200" y="146304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C8D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sub-agent is a @tool — the orchestrator delegates using the same mechanism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457200" y="2743200"/>
            <a:ext cx="1828800" cy="1097280"/>
          </a:xfrm>
          <a:prstGeom prst="roundRect">
            <a:avLst>
              <a:gd name="adj" fmla="val 8333"/>
            </a:avLst>
          </a:prstGeom>
          <a:solidFill>
            <a:srgbClr val="232B3E"/>
          </a:solidFill>
          <a:ln w="6350">
            <a:solidFill>
              <a:srgbClr val="C8D0E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2743200"/>
            <a:ext cx="18288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"Should I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rebalance?"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2377440" y="2926080"/>
            <a:ext cx="5486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dirty="0">
                <a:solidFill>
                  <a:srgbClr val="00B4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800" dirty="0"/>
          </a:p>
        </p:txBody>
      </p:sp>
      <p:sp>
        <p:nvSpPr>
          <p:cNvPr id="8" name="Shape 6"/>
          <p:cNvSpPr/>
          <p:nvPr/>
        </p:nvSpPr>
        <p:spPr>
          <a:xfrm>
            <a:off x="3017520" y="2286000"/>
            <a:ext cx="2286000" cy="2011680"/>
          </a:xfrm>
          <a:prstGeom prst="roundRect">
            <a:avLst>
              <a:gd name="adj" fmla="val 5455"/>
            </a:avLst>
          </a:prstGeom>
          <a:solidFill>
            <a:srgbClr val="232B3E"/>
          </a:solidFill>
          <a:ln w="19050">
            <a:solidFill>
              <a:srgbClr val="00B4D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017520" y="2286000"/>
            <a:ext cx="22860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3000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Senior Financial</a:t>
            </a:r>
            <a:endParaRPr lang="en-US" sz="1400" dirty="0"/>
          </a:p>
          <a:p>
            <a:pPr marL="0" indent="0" algn="ctr">
              <a:lnSpc>
                <a:spcPct val="13000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Advisor</a:t>
            </a:r>
            <a:endParaRPr lang="en-US" sz="1400" dirty="0"/>
          </a:p>
          <a:p>
            <a:pPr marL="0" indent="0" algn="ctr">
              <a:lnSpc>
                <a:spcPct val="13000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Orchestrator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5394960" y="201168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FF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5394960" y="292608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B4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5394960" y="384048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8B5C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200" dirty="0"/>
          </a:p>
        </p:txBody>
      </p:sp>
      <p:sp>
        <p:nvSpPr>
          <p:cNvPr id="13" name="Shape 11"/>
          <p:cNvSpPr/>
          <p:nvPr/>
        </p:nvSpPr>
        <p:spPr>
          <a:xfrm>
            <a:off x="6035040" y="1920240"/>
            <a:ext cx="2011680" cy="731520"/>
          </a:xfrm>
          <a:prstGeom prst="roundRect">
            <a:avLst>
              <a:gd name="adj" fmla="val 10000"/>
            </a:avLst>
          </a:prstGeom>
          <a:solidFill>
            <a:srgbClr val="232B3E"/>
          </a:solidFill>
          <a:ln w="12700">
            <a:solidFill>
              <a:srgbClr val="FF6B6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035040" y="1920240"/>
            <a:ext cx="20116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Portfolio Agent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6035040" y="2834640"/>
            <a:ext cx="2011680" cy="731520"/>
          </a:xfrm>
          <a:prstGeom prst="roundRect">
            <a:avLst>
              <a:gd name="adj" fmla="val 10000"/>
            </a:avLst>
          </a:prstGeom>
          <a:solidFill>
            <a:srgbClr val="232B3E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035040" y="2834640"/>
            <a:ext cx="20116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 Agent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6035040" y="3749040"/>
            <a:ext cx="2011680" cy="731520"/>
          </a:xfrm>
          <a:prstGeom prst="roundRect">
            <a:avLst>
              <a:gd name="adj" fmla="val 10000"/>
            </a:avLst>
          </a:prstGeom>
          <a:solidFill>
            <a:srgbClr val="232B3E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035040" y="3749040"/>
            <a:ext cx="20116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News Agent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8138160" y="2926080"/>
            <a:ext cx="5486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dirty="0">
                <a:solidFill>
                  <a:srgbClr val="2EC4B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800" dirty="0"/>
          </a:p>
        </p:txBody>
      </p:sp>
      <p:sp>
        <p:nvSpPr>
          <p:cNvPr id="20" name="Shape 18"/>
          <p:cNvSpPr/>
          <p:nvPr/>
        </p:nvSpPr>
        <p:spPr>
          <a:xfrm>
            <a:off x="8778240" y="2468880"/>
            <a:ext cx="2926080" cy="1645920"/>
          </a:xfrm>
          <a:prstGeom prst="roundRect">
            <a:avLst>
              <a:gd name="adj" fmla="val 6667"/>
            </a:avLst>
          </a:prstGeom>
          <a:solidFill>
            <a:srgbClr val="232B3E"/>
          </a:solidFill>
          <a:ln w="19050">
            <a:solidFill>
              <a:srgbClr val="2EC4B6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8778240" y="2468880"/>
            <a:ext cx="292608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Synthesized</a:t>
            </a:r>
            <a:endParaRPr lang="en-US" sz="1200" dirty="0"/>
          </a:p>
          <a:p>
            <a:pPr marL="0" indent="0" algn="ctr">
              <a:lnSpc>
                <a:spcPct val="120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Recommendation</a:t>
            </a:r>
            <a:endParaRPr lang="en-US" sz="1200" dirty="0"/>
          </a:p>
          <a:p>
            <a:pPr marL="0" indent="0" algn="ctr">
              <a:lnSpc>
                <a:spcPct val="120000"/>
              </a:lnSpc>
              <a:buNone/>
            </a:pPr>
            <a:endParaRPr lang="en-US" sz="1200" dirty="0"/>
          </a:p>
          <a:p>
            <a:pPr marL="0" indent="0" algn="ctr">
              <a:lnSpc>
                <a:spcPct val="120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coherent response</a:t>
            </a:r>
            <a:endParaRPr lang="en-US" sz="1200" dirty="0"/>
          </a:p>
          <a:p>
            <a:pPr marL="0" indent="0" algn="ctr">
              <a:lnSpc>
                <a:spcPct val="120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all specialists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457200" y="64008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© 2026, Amazon Web Services, Inc. or its affiliates. All rights reserved.</a:t>
            </a:r>
            <a:endParaRPr lang="en-US" sz="7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61E2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2743200"/>
            <a:ext cx="137160" cy="1371600"/>
          </a:xfrm>
          <a:prstGeom prst="rect">
            <a:avLst/>
          </a:prstGeom>
          <a:solidFill>
            <a:srgbClr val="8B5CF6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2011680"/>
            <a:ext cx="9144000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5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Making it</a:t>
            </a:r>
            <a:endParaRPr lang="en-US" sz="52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5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production-ready</a:t>
            </a:r>
            <a:endParaRPr lang="en-US" sz="5200" dirty="0"/>
          </a:p>
        </p:txBody>
      </p:sp>
      <p:sp>
        <p:nvSpPr>
          <p:cNvPr id="4" name="Text 2"/>
          <p:cNvSpPr/>
          <p:nvPr/>
        </p:nvSpPr>
        <p:spPr>
          <a:xfrm>
            <a:off x="365760" y="274320"/>
            <a:ext cx="914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aws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457200" y="64008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© 2026, Amazon Web Services, Inc. or its affiliates. All rights reserved.</a:t>
            </a:r>
            <a:endParaRPr lang="en-US" sz="7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161E2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74320"/>
            <a:ext cx="914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aws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457200" y="82296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Persistent memory across sessions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457200" y="1828800"/>
            <a:ext cx="5486400" cy="4297680"/>
          </a:xfrm>
          <a:prstGeom prst="roundRect">
            <a:avLst>
              <a:gd name="adj" fmla="val 2553"/>
            </a:avLst>
          </a:prstGeom>
          <a:solidFill>
            <a:srgbClr val="232B3E"/>
          </a:solidFill>
          <a:ln/>
        </p:spPr>
      </p:sp>
      <p:sp>
        <p:nvSpPr>
          <p:cNvPr id="5" name="Text 3"/>
          <p:cNvSpPr/>
          <p:nvPr/>
        </p:nvSpPr>
        <p:spPr>
          <a:xfrm>
            <a:off x="822960" y="2103120"/>
            <a:ext cx="4754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Without memory, every</a:t>
            </a:r>
            <a:endParaRPr lang="en-US" sz="1800" dirty="0"/>
          </a:p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conversation starts cold.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822960" y="2926080"/>
            <a:ext cx="47548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40000"/>
              </a:lnSpc>
              <a:buNone/>
            </a:pPr>
            <a:r>
              <a:rPr lang="en-US" sz="1400" dirty="0">
                <a:solidFill>
                  <a:srgbClr val="C8D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AgentCore Memory provides a persistent,</a:t>
            </a:r>
            <a:endParaRPr lang="en-US" sz="140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1400" dirty="0">
                <a:solidFill>
                  <a:srgbClr val="C8D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semantic store so the agent remembers</a:t>
            </a:r>
            <a:endParaRPr lang="en-US" sz="140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1400" dirty="0">
                <a:solidFill>
                  <a:srgbClr val="C8D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past interactions and client preferences.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822960" y="4178808"/>
            <a:ext cx="274320" cy="274320"/>
          </a:xfrm>
          <a:prstGeom prst="ellipse">
            <a:avLst/>
          </a:prstGeom>
          <a:solidFill>
            <a:srgbClr val="00B4D8"/>
          </a:solidFill>
          <a:ln/>
        </p:spPr>
      </p:sp>
      <p:sp>
        <p:nvSpPr>
          <p:cNvPr id="8" name="Text 6"/>
          <p:cNvSpPr/>
          <p:nvPr/>
        </p:nvSpPr>
        <p:spPr>
          <a:xfrm>
            <a:off x="1280160" y="4114800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0B4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save_turn()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3383280" y="411480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C8D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Persist each conversation turn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822960" y="4818888"/>
            <a:ext cx="274320" cy="274320"/>
          </a:xfrm>
          <a:prstGeom prst="ellipse">
            <a:avLst/>
          </a:prstGeom>
          <a:solidFill>
            <a:srgbClr val="2EC4B6"/>
          </a:solidFill>
          <a:ln/>
        </p:spPr>
      </p:sp>
      <p:sp>
        <p:nvSpPr>
          <p:cNvPr id="11" name="Text 9"/>
          <p:cNvSpPr/>
          <p:nvPr/>
        </p:nvSpPr>
        <p:spPr>
          <a:xfrm>
            <a:off x="1280160" y="4754880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EC4B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get_recent_context()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3383280" y="475488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C8D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Retrieve relevant history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822960" y="5458968"/>
            <a:ext cx="274320" cy="274320"/>
          </a:xfrm>
          <a:prstGeom prst="ellipse">
            <a:avLst/>
          </a:prstGeom>
          <a:solidFill>
            <a:srgbClr val="8B5CF6"/>
          </a:solidFill>
          <a:ln/>
        </p:spPr>
      </p:sp>
      <p:sp>
        <p:nvSpPr>
          <p:cNvPr id="14" name="Text 12"/>
          <p:cNvSpPr/>
          <p:nvPr/>
        </p:nvSpPr>
        <p:spPr>
          <a:xfrm>
            <a:off x="1280160" y="5394960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8B5C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System prompt injection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3383280" y="539496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C8D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Memory context at runtime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6400800" y="1828800"/>
            <a:ext cx="5303520" cy="4297680"/>
          </a:xfrm>
          <a:prstGeom prst="roundRect">
            <a:avLst>
              <a:gd name="adj" fmla="val 2553"/>
            </a:avLst>
          </a:prstGeom>
          <a:solidFill>
            <a:srgbClr val="1E293B"/>
          </a:solidFill>
          <a:ln/>
        </p:spPr>
      </p:sp>
      <p:sp>
        <p:nvSpPr>
          <p:cNvPr id="17" name="Text 15"/>
          <p:cNvSpPr/>
          <p:nvPr/>
        </p:nvSpPr>
        <p:spPr>
          <a:xfrm>
            <a:off x="6675120" y="2103120"/>
            <a:ext cx="4754880" cy="3840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2EC4B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memory = MemoryManager()</a:t>
            </a:r>
            <a:endParaRPr lang="en-US" sz="1200" dirty="0"/>
          </a:p>
          <a:p>
            <a:pPr marL="0" indent="0">
              <a:lnSpc>
                <a:spcPct val="120000"/>
              </a:lnSpc>
              <a:buNone/>
            </a:pPr>
            <a:endParaRPr lang="en-US" sz="120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2EC4B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On each turn:</a:t>
            </a:r>
            <a:endParaRPr lang="en-US" sz="120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2EC4B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context = memory.get_recent_context(</a:t>
            </a:r>
            <a:endParaRPr lang="en-US" sz="120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2EC4B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query=user_input</a:t>
            </a:r>
            <a:endParaRPr lang="en-US" sz="120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2EC4B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1200" dirty="0"/>
          </a:p>
          <a:p>
            <a:pPr marL="0" indent="0">
              <a:lnSpc>
                <a:spcPct val="120000"/>
              </a:lnSpc>
              <a:buNone/>
            </a:pPr>
            <a:endParaRPr lang="en-US" sz="120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2EC4B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advisor = create_financial_advisor(</a:t>
            </a:r>
            <a:endParaRPr lang="en-US" sz="120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2EC4B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memory_context=context</a:t>
            </a:r>
            <a:endParaRPr lang="en-US" sz="120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2EC4B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120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2EC4B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response = advisor(user_input)</a:t>
            </a:r>
            <a:endParaRPr lang="en-US" sz="1200" dirty="0"/>
          </a:p>
          <a:p>
            <a:pPr marL="0" indent="0">
              <a:lnSpc>
                <a:spcPct val="120000"/>
              </a:lnSpc>
              <a:buNone/>
            </a:pPr>
            <a:endParaRPr lang="en-US" sz="120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2EC4B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memory.save_turn(</a:t>
            </a:r>
            <a:endParaRPr lang="en-US" sz="120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2EC4B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user_input, str(response)</a:t>
            </a:r>
            <a:endParaRPr lang="en-US" sz="120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2EC4B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457200" y="64008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© 2026, Amazon Web Services, Inc. or its affiliates. All rights reserved.</a:t>
            </a:r>
            <a:endParaRPr lang="en-US" sz="7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161E2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74320"/>
            <a:ext cx="914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aws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457200" y="82296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rgbClr val="FF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RESPONSIBLE AI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109728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Amazon Bedrock Guardrails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457200" y="173736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C8D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Zero code changes — compliance becomes a deployment concern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457200" y="2468880"/>
            <a:ext cx="5303520" cy="3474720"/>
          </a:xfrm>
          <a:prstGeom prst="roundRect">
            <a:avLst>
              <a:gd name="adj" fmla="val 3158"/>
            </a:avLst>
          </a:prstGeom>
          <a:solidFill>
            <a:srgbClr val="232B3E"/>
          </a:solidFill>
          <a:ln/>
        </p:spPr>
      </p:sp>
      <p:sp>
        <p:nvSpPr>
          <p:cNvPr id="7" name="Text 5"/>
          <p:cNvSpPr/>
          <p:nvPr/>
        </p:nvSpPr>
        <p:spPr>
          <a:xfrm>
            <a:off x="822960" y="274320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FF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INPUT FILTER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822960" y="3200400"/>
            <a:ext cx="457200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60000"/>
              </a:lnSpc>
              <a:buNone/>
            </a:pPr>
            <a:r>
              <a:rPr lang="en-US" sz="1500" dirty="0">
                <a:solidFill>
                  <a:srgbClr val="C8D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Blocks prompt injection</a:t>
            </a:r>
            <a:endParaRPr lang="en-US" sz="1500" dirty="0"/>
          </a:p>
          <a:p>
            <a:pPr marL="0" indent="0">
              <a:lnSpc>
                <a:spcPct val="160000"/>
              </a:lnSpc>
              <a:buNone/>
            </a:pPr>
            <a:r>
              <a:rPr lang="en-US" sz="1500" dirty="0">
                <a:solidFill>
                  <a:srgbClr val="C8D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Rejects off-topic requests</a:t>
            </a:r>
            <a:endParaRPr lang="en-US" sz="1500" dirty="0"/>
          </a:p>
          <a:p>
            <a:pPr marL="0" indent="0">
              <a:lnSpc>
                <a:spcPct val="160000"/>
              </a:lnSpc>
              <a:buNone/>
            </a:pPr>
            <a:r>
              <a:rPr lang="en-US" sz="1500" dirty="0">
                <a:solidFill>
                  <a:srgbClr val="C8D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Redacts PII before the LLM sees it</a:t>
            </a:r>
            <a:endParaRPr lang="en-US" sz="1500" dirty="0"/>
          </a:p>
          <a:p>
            <a:pPr marL="0" indent="0">
              <a:lnSpc>
                <a:spcPct val="160000"/>
              </a:lnSpc>
              <a:buNone/>
            </a:pPr>
            <a:r>
              <a:rPr lang="en-US" sz="1500" dirty="0">
                <a:solidFill>
                  <a:srgbClr val="C8D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Enforces denied topics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6400800" y="2468880"/>
            <a:ext cx="5303520" cy="3474720"/>
          </a:xfrm>
          <a:prstGeom prst="roundRect">
            <a:avLst>
              <a:gd name="adj" fmla="val 3158"/>
            </a:avLst>
          </a:prstGeom>
          <a:solidFill>
            <a:srgbClr val="232B3E"/>
          </a:solidFill>
          <a:ln/>
        </p:spPr>
      </p:sp>
      <p:sp>
        <p:nvSpPr>
          <p:cNvPr id="10" name="Text 8"/>
          <p:cNvSpPr/>
          <p:nvPr/>
        </p:nvSpPr>
        <p:spPr>
          <a:xfrm>
            <a:off x="6766560" y="274320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00B4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OUTPUT FILTER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6766560" y="3200400"/>
            <a:ext cx="457200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60000"/>
              </a:lnSpc>
              <a:buNone/>
            </a:pPr>
            <a:r>
              <a:rPr lang="en-US" sz="1500" dirty="0">
                <a:solidFill>
                  <a:srgbClr val="C8D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Checks grounding accuracy</a:t>
            </a:r>
            <a:endParaRPr lang="en-US" sz="1500" dirty="0"/>
          </a:p>
          <a:p>
            <a:pPr marL="0" indent="0">
              <a:lnSpc>
                <a:spcPct val="160000"/>
              </a:lnSpc>
              <a:buNone/>
            </a:pPr>
            <a:r>
              <a:rPr lang="en-US" sz="1500" dirty="0">
                <a:solidFill>
                  <a:srgbClr val="C8D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Redacts any leaked PII</a:t>
            </a:r>
            <a:endParaRPr lang="en-US" sz="1500" dirty="0"/>
          </a:p>
          <a:p>
            <a:pPr marL="0" indent="0">
              <a:lnSpc>
                <a:spcPct val="160000"/>
              </a:lnSpc>
              <a:buNone/>
            </a:pPr>
            <a:r>
              <a:rPr lang="en-US" sz="1500" dirty="0">
                <a:solidFill>
                  <a:srgbClr val="C8D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Blocks hallucinated content</a:t>
            </a:r>
            <a:endParaRPr lang="en-US" sz="1500" dirty="0"/>
          </a:p>
          <a:p>
            <a:pPr marL="0" indent="0">
              <a:lnSpc>
                <a:spcPct val="160000"/>
              </a:lnSpc>
              <a:buNone/>
            </a:pPr>
            <a:r>
              <a:rPr lang="en-US" sz="1500" dirty="0">
                <a:solidFill>
                  <a:srgbClr val="C8D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Enforces blocked phrases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457200" y="64008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© 2026, Amazon Web Services, Inc. or its affiliates. All rights reserved.</a:t>
            </a:r>
            <a:endParaRPr lang="en-US" sz="7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161E2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74320"/>
            <a:ext cx="914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aws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457200" y="82296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 with AgentCore Runtime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457200" y="146304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C8D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Serverless execution — auto-scaling, sessions, health checks, observability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457200" y="2194560"/>
            <a:ext cx="3566160" cy="3657600"/>
          </a:xfrm>
          <a:prstGeom prst="roundRect">
            <a:avLst>
              <a:gd name="adj" fmla="val 3077"/>
            </a:avLst>
          </a:prstGeom>
          <a:solidFill>
            <a:srgbClr val="232B3E"/>
          </a:solidFill>
          <a:ln/>
        </p:spPr>
      </p:sp>
      <p:sp>
        <p:nvSpPr>
          <p:cNvPr id="6" name="Text 4"/>
          <p:cNvSpPr/>
          <p:nvPr/>
        </p:nvSpPr>
        <p:spPr>
          <a:xfrm>
            <a:off x="1645920" y="2468880"/>
            <a:ext cx="1188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600" dirty="0">
                <a:solidFill>
                  <a:srgbClr val="000000"/>
                </a:solidFill>
              </a:rPr>
              <a:t>⚡</a:t>
            </a:r>
            <a:endParaRPr lang="en-US" sz="3600" dirty="0"/>
          </a:p>
        </p:txBody>
      </p:sp>
      <p:sp>
        <p:nvSpPr>
          <p:cNvPr id="7" name="Shape 5"/>
          <p:cNvSpPr/>
          <p:nvPr/>
        </p:nvSpPr>
        <p:spPr>
          <a:xfrm>
            <a:off x="731520" y="3383280"/>
            <a:ext cx="3017520" cy="548640"/>
          </a:xfrm>
          <a:prstGeom prst="roundRect">
            <a:avLst>
              <a:gd name="adj" fmla="val 10000"/>
            </a:avLst>
          </a:prstGeom>
          <a:solidFill>
            <a:srgbClr val="1E293B"/>
          </a:solidFill>
          <a:ln/>
        </p:spPr>
      </p:sp>
      <p:sp>
        <p:nvSpPr>
          <p:cNvPr id="8" name="Text 6"/>
          <p:cNvSpPr/>
          <p:nvPr/>
        </p:nvSpPr>
        <p:spPr>
          <a:xfrm>
            <a:off x="914400" y="3383280"/>
            <a:ext cx="2651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0B4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agentcore dev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731520" y="4206240"/>
            <a:ext cx="30175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40000"/>
              </a:lnSpc>
              <a:buNone/>
            </a:pPr>
            <a:r>
              <a:rPr lang="en-US" sz="1400" dirty="0">
                <a:solidFill>
                  <a:srgbClr val="C8D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 agent with hot-reload</a:t>
            </a:r>
            <a:endParaRPr lang="en-US" sz="1400" dirty="0"/>
          </a:p>
          <a:p>
            <a:pPr marL="0" indent="0" algn="ctr">
              <a:lnSpc>
                <a:spcPct val="140000"/>
              </a:lnSpc>
              <a:buNone/>
            </a:pPr>
            <a:r>
              <a:rPr lang="en-US" sz="1400" dirty="0">
                <a:solidFill>
                  <a:srgbClr val="C8D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 http://localhost:8080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4297680" y="2194560"/>
            <a:ext cx="3566160" cy="3657600"/>
          </a:xfrm>
          <a:prstGeom prst="roundRect">
            <a:avLst>
              <a:gd name="adj" fmla="val 3077"/>
            </a:avLst>
          </a:prstGeom>
          <a:solidFill>
            <a:srgbClr val="232B3E"/>
          </a:solidFill>
          <a:ln/>
        </p:spPr>
      </p:sp>
      <p:sp>
        <p:nvSpPr>
          <p:cNvPr id="11" name="Text 9"/>
          <p:cNvSpPr/>
          <p:nvPr/>
        </p:nvSpPr>
        <p:spPr>
          <a:xfrm>
            <a:off x="5486400" y="2468880"/>
            <a:ext cx="1188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600" dirty="0">
                <a:solidFill>
                  <a:srgbClr val="000000"/>
                </a:solidFill>
              </a:rPr>
              <a:t>🚀</a:t>
            </a:r>
            <a:endParaRPr lang="en-US" sz="3600" dirty="0"/>
          </a:p>
        </p:txBody>
      </p:sp>
      <p:sp>
        <p:nvSpPr>
          <p:cNvPr id="12" name="Shape 10"/>
          <p:cNvSpPr/>
          <p:nvPr/>
        </p:nvSpPr>
        <p:spPr>
          <a:xfrm>
            <a:off x="4572000" y="3383280"/>
            <a:ext cx="3017520" cy="548640"/>
          </a:xfrm>
          <a:prstGeom prst="roundRect">
            <a:avLst>
              <a:gd name="adj" fmla="val 10000"/>
            </a:avLst>
          </a:prstGeom>
          <a:solidFill>
            <a:srgbClr val="1E293B"/>
          </a:solidFill>
          <a:ln/>
        </p:spPr>
      </p:sp>
      <p:sp>
        <p:nvSpPr>
          <p:cNvPr id="13" name="Text 11"/>
          <p:cNvSpPr/>
          <p:nvPr/>
        </p:nvSpPr>
        <p:spPr>
          <a:xfrm>
            <a:off x="4754880" y="3383280"/>
            <a:ext cx="2651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6B6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agentcore deploy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4572000" y="4206240"/>
            <a:ext cx="30175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40000"/>
              </a:lnSpc>
              <a:buNone/>
            </a:pPr>
            <a:r>
              <a:rPr lang="en-US" sz="1400" dirty="0">
                <a:solidFill>
                  <a:srgbClr val="C8D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Package, provision CDK stack,</a:t>
            </a:r>
            <a:endParaRPr lang="en-US" sz="1400" dirty="0"/>
          </a:p>
          <a:p>
            <a:pPr marL="0" indent="0" algn="ctr">
              <a:lnSpc>
                <a:spcPct val="140000"/>
              </a:lnSpc>
              <a:buNone/>
            </a:pPr>
            <a:r>
              <a:rPr lang="en-US" sz="1400" dirty="0">
                <a:solidFill>
                  <a:srgbClr val="C8D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attach guardrails + memory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8138160" y="2194560"/>
            <a:ext cx="3566160" cy="3657600"/>
          </a:xfrm>
          <a:prstGeom prst="roundRect">
            <a:avLst>
              <a:gd name="adj" fmla="val 3077"/>
            </a:avLst>
          </a:prstGeom>
          <a:solidFill>
            <a:srgbClr val="232B3E"/>
          </a:solidFill>
          <a:ln/>
        </p:spPr>
      </p:sp>
      <p:sp>
        <p:nvSpPr>
          <p:cNvPr id="16" name="Text 14"/>
          <p:cNvSpPr/>
          <p:nvPr/>
        </p:nvSpPr>
        <p:spPr>
          <a:xfrm>
            <a:off x="9326880" y="2468880"/>
            <a:ext cx="1188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600" dirty="0">
                <a:solidFill>
                  <a:srgbClr val="000000"/>
                </a:solidFill>
              </a:rPr>
              <a:t>✅</a:t>
            </a:r>
            <a:endParaRPr lang="en-US" sz="3600" dirty="0"/>
          </a:p>
        </p:txBody>
      </p:sp>
      <p:sp>
        <p:nvSpPr>
          <p:cNvPr id="17" name="Shape 15"/>
          <p:cNvSpPr/>
          <p:nvPr/>
        </p:nvSpPr>
        <p:spPr>
          <a:xfrm>
            <a:off x="8412480" y="3383280"/>
            <a:ext cx="3017520" cy="548640"/>
          </a:xfrm>
          <a:prstGeom prst="roundRect">
            <a:avLst>
              <a:gd name="adj" fmla="val 10000"/>
            </a:avLst>
          </a:prstGeom>
          <a:solidFill>
            <a:srgbClr val="1E293B"/>
          </a:solidFill>
          <a:ln/>
        </p:spPr>
      </p:sp>
      <p:sp>
        <p:nvSpPr>
          <p:cNvPr id="18" name="Text 16"/>
          <p:cNvSpPr/>
          <p:nvPr/>
        </p:nvSpPr>
        <p:spPr>
          <a:xfrm>
            <a:off x="8595360" y="3383280"/>
            <a:ext cx="2651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2EC4B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agentcore invoke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8412480" y="4206240"/>
            <a:ext cx="30175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40000"/>
              </a:lnSpc>
              <a:buNone/>
            </a:pPr>
            <a:r>
              <a:rPr lang="en-US" sz="1400" dirty="0">
                <a:solidFill>
                  <a:srgbClr val="C8D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Stream responses from your</a:t>
            </a:r>
            <a:endParaRPr lang="en-US" sz="1400" dirty="0"/>
          </a:p>
          <a:p>
            <a:pPr marL="0" indent="0" algn="ctr">
              <a:lnSpc>
                <a:spcPct val="140000"/>
              </a:lnSpc>
              <a:buNone/>
            </a:pPr>
            <a:r>
              <a:rPr lang="en-US" sz="1400" dirty="0">
                <a:solidFill>
                  <a:srgbClr val="C8D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deployed production agent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457200" y="64008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© 2026, Amazon Web Services, Inc. or its affiliates. All rights reserved.</a:t>
            </a:r>
            <a:endParaRPr lang="en-US" sz="7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161E2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2743200"/>
            <a:ext cx="137160" cy="1371600"/>
          </a:xfrm>
          <a:prstGeom prst="rect">
            <a:avLst/>
          </a:prstGeom>
          <a:solidFill>
            <a:srgbClr val="8B5CF6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2011680"/>
            <a:ext cx="9144000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5200" b="1" dirty="0" smtClean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</a:t>
            </a:r>
            <a:endParaRPr lang="en-US" sz="5200" dirty="0"/>
          </a:p>
        </p:txBody>
      </p:sp>
      <p:sp>
        <p:nvSpPr>
          <p:cNvPr id="4" name="Text 2"/>
          <p:cNvSpPr/>
          <p:nvPr/>
        </p:nvSpPr>
        <p:spPr>
          <a:xfrm>
            <a:off x="365760" y="274320"/>
            <a:ext cx="914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aws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457200" y="64008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© 2026, Amazon Web Services, Inc. or its affiliates. All rights reserved.</a:t>
            </a:r>
            <a:endParaRPr lang="en-US" sz="7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161E2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74320"/>
            <a:ext cx="914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aws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457200" y="82296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What's in the demo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457200" y="155448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i="1" dirty="0" smtClean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Ready </a:t>
            </a:r>
            <a:r>
              <a:rPr lang="en-US" sz="1800" i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run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457200" y="2286000"/>
            <a:ext cx="11247120" cy="731520"/>
          </a:xfrm>
          <a:prstGeom prst="roundRect">
            <a:avLst>
              <a:gd name="adj" fmla="val 12500"/>
            </a:avLst>
          </a:prstGeom>
          <a:solidFill>
            <a:srgbClr val="232B3E"/>
          </a:solidFill>
          <a:ln/>
        </p:spPr>
      </p:sp>
      <p:sp>
        <p:nvSpPr>
          <p:cNvPr id="6" name="Text 4"/>
          <p:cNvSpPr/>
          <p:nvPr/>
        </p:nvSpPr>
        <p:spPr>
          <a:xfrm>
            <a:off x="640080" y="2286000"/>
            <a:ext cx="5486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</a:rPr>
              <a:t>📦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1371600" y="2286000"/>
            <a:ext cx="10058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financial_advisor_demo/ package</a:t>
            </a:r>
            <a:r>
              <a:rPr lang="en-US" sz="1500" dirty="0">
                <a:solidFill>
                  <a:srgbClr val="C8D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the exact same specialists, orchestrator, memory, and guardrails logic 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457200" y="3154680"/>
            <a:ext cx="11247120" cy="731520"/>
          </a:xfrm>
          <a:prstGeom prst="roundRect">
            <a:avLst>
              <a:gd name="adj" fmla="val 12500"/>
            </a:avLst>
          </a:prstGeom>
          <a:solidFill>
            <a:srgbClr val="232B3E"/>
          </a:solidFill>
          <a:ln/>
        </p:spPr>
      </p:sp>
      <p:sp>
        <p:nvSpPr>
          <p:cNvPr id="10" name="Text 8"/>
          <p:cNvSpPr/>
          <p:nvPr/>
        </p:nvSpPr>
        <p:spPr>
          <a:xfrm>
            <a:off x="640080" y="3154680"/>
            <a:ext cx="5486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</a:rPr>
              <a:t>🔄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1371600" y="3154680"/>
            <a:ext cx="10058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one swap: BedrockModel → LocalReasoningEngine</a:t>
            </a:r>
            <a:r>
              <a:rPr lang="en-US" sz="1500" dirty="0">
                <a:solidFill>
                  <a:srgbClr val="C8D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a deterministic Perceive → Plan → Act → Reflect engine that scores real Strands @tool </a:t>
            </a:r>
            <a:r>
              <a:rPr lang="en-US" sz="1500" dirty="0" smtClean="0">
                <a:solidFill>
                  <a:srgbClr val="C8D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specs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457200" y="4023360"/>
            <a:ext cx="11247120" cy="731520"/>
          </a:xfrm>
          <a:prstGeom prst="roundRect">
            <a:avLst>
              <a:gd name="adj" fmla="val 12500"/>
            </a:avLst>
          </a:prstGeom>
          <a:solidFill>
            <a:srgbClr val="232B3E"/>
          </a:solidFill>
          <a:ln/>
        </p:spPr>
      </p:sp>
      <p:sp>
        <p:nvSpPr>
          <p:cNvPr id="14" name="Text 12"/>
          <p:cNvSpPr/>
          <p:nvPr/>
        </p:nvSpPr>
        <p:spPr>
          <a:xfrm>
            <a:off x="640080" y="4023360"/>
            <a:ext cx="5486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</a:rPr>
              <a:t>📓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1371600" y="4023360"/>
            <a:ext cx="10058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Multi_Agent_Financial_Advisor_Demo.ipynb</a:t>
            </a:r>
            <a:r>
              <a:rPr lang="en-US" sz="1500" dirty="0">
                <a:solidFill>
                  <a:srgbClr val="C8D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</a:t>
            </a:r>
            <a:r>
              <a:rPr lang="en-US" sz="1500" dirty="0" smtClean="0">
                <a:solidFill>
                  <a:srgbClr val="C8D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500" dirty="0">
                <a:solidFill>
                  <a:srgbClr val="C8D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notebook </a:t>
            </a:r>
            <a:r>
              <a:rPr lang="en-US" sz="1500" dirty="0" smtClean="0">
                <a:solidFill>
                  <a:srgbClr val="C8D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that runs </a:t>
            </a:r>
            <a:r>
              <a:rPr lang="en-US" sz="1500" dirty="0">
                <a:solidFill>
                  <a:srgbClr val="C8D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end-to-end</a:t>
            </a:r>
            <a:endParaRPr lang="en-US" sz="1500" dirty="0"/>
          </a:p>
        </p:txBody>
      </p:sp>
      <p:sp>
        <p:nvSpPr>
          <p:cNvPr id="17" name="Shape 15"/>
          <p:cNvSpPr/>
          <p:nvPr/>
        </p:nvSpPr>
        <p:spPr>
          <a:xfrm>
            <a:off x="457200" y="4892040"/>
            <a:ext cx="11247120" cy="731520"/>
          </a:xfrm>
          <a:prstGeom prst="roundRect">
            <a:avLst>
              <a:gd name="adj" fmla="val 12500"/>
            </a:avLst>
          </a:prstGeom>
          <a:solidFill>
            <a:srgbClr val="232B3E"/>
          </a:solidFill>
          <a:ln/>
        </p:spPr>
      </p:sp>
      <p:sp>
        <p:nvSpPr>
          <p:cNvPr id="18" name="Text 16"/>
          <p:cNvSpPr/>
          <p:nvPr/>
        </p:nvSpPr>
        <p:spPr>
          <a:xfrm>
            <a:off x="640080" y="4892040"/>
            <a:ext cx="5486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</a:rPr>
              <a:t>🌐</a:t>
            </a:r>
            <a:endParaRPr lang="en-US" sz="2200" dirty="0"/>
          </a:p>
        </p:txBody>
      </p:sp>
      <p:sp>
        <p:nvSpPr>
          <p:cNvPr id="19" name="Text 17"/>
          <p:cNvSpPr/>
          <p:nvPr/>
        </p:nvSpPr>
        <p:spPr>
          <a:xfrm>
            <a:off x="1371600" y="4892040"/>
            <a:ext cx="10058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webapp/</a:t>
            </a:r>
            <a:r>
              <a:rPr lang="en-US" sz="1500" dirty="0">
                <a:solidFill>
                  <a:srgbClr val="C8D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a Flask + vanilla JS chat UI with a client picker, a live specialist delegation trace, and guardrail-blocked message bubbles</a:t>
            </a:r>
            <a:endParaRPr lang="en-US" sz="1500" dirty="0"/>
          </a:p>
        </p:txBody>
      </p:sp>
      <p:sp>
        <p:nvSpPr>
          <p:cNvPr id="25" name="Text 23"/>
          <p:cNvSpPr/>
          <p:nvPr/>
        </p:nvSpPr>
        <p:spPr>
          <a:xfrm>
            <a:off x="457200" y="64008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© 2026, Amazon Web Services, Inc. or its affiliates. All rights reserved.</a:t>
            </a:r>
            <a:endParaRPr lang="en-US" sz="7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161E2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74320"/>
            <a:ext cx="914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aws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457200" y="82296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it yourself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457200" y="155448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i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ways to launch — notebook or web app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457200" y="2286000"/>
            <a:ext cx="11247120" cy="731520"/>
          </a:xfrm>
          <a:prstGeom prst="roundRect">
            <a:avLst>
              <a:gd name="adj" fmla="val 12500"/>
            </a:avLst>
          </a:prstGeom>
          <a:solidFill>
            <a:srgbClr val="232B3E"/>
          </a:solidFill>
          <a:ln/>
        </p:spPr>
      </p:sp>
      <p:sp>
        <p:nvSpPr>
          <p:cNvPr id="6" name="Text 4"/>
          <p:cNvSpPr/>
          <p:nvPr/>
        </p:nvSpPr>
        <p:spPr>
          <a:xfrm>
            <a:off x="640080" y="2286000"/>
            <a:ext cx="5486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</a:rPr>
              <a:t>📓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1371600" y="2286000"/>
            <a:ext cx="10058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Notebook:</a:t>
            </a:r>
            <a:r>
              <a:rPr lang="en-US" sz="1500" dirty="0">
                <a:solidFill>
                  <a:srgbClr val="C8D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jupyter notebook Multi_Agent_Financial_Advisor_Demo.ipynb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457200" y="3154680"/>
            <a:ext cx="11247120" cy="731520"/>
          </a:xfrm>
          <a:prstGeom prst="roundRect">
            <a:avLst>
              <a:gd name="adj" fmla="val 12500"/>
            </a:avLst>
          </a:prstGeom>
          <a:solidFill>
            <a:srgbClr val="232B3E"/>
          </a:solidFill>
          <a:ln/>
        </p:spPr>
      </p:sp>
      <p:sp>
        <p:nvSpPr>
          <p:cNvPr id="10" name="Text 8"/>
          <p:cNvSpPr/>
          <p:nvPr/>
        </p:nvSpPr>
        <p:spPr>
          <a:xfrm>
            <a:off x="640080" y="3154680"/>
            <a:ext cx="5486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</a:rPr>
              <a:t>🌐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1371600" y="3154680"/>
            <a:ext cx="10058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 app:</a:t>
            </a:r>
            <a:r>
              <a:rPr lang="en-US" sz="1500" dirty="0">
                <a:solidFill>
                  <a:srgbClr val="C8D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cd webapp then python app.py, then open http://127.0.0.1:5000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457200" y="4023360"/>
            <a:ext cx="11247120" cy="731520"/>
          </a:xfrm>
          <a:prstGeom prst="roundRect">
            <a:avLst>
              <a:gd name="adj" fmla="val 12500"/>
            </a:avLst>
          </a:prstGeom>
          <a:solidFill>
            <a:srgbClr val="232B3E"/>
          </a:solidFill>
          <a:ln/>
        </p:spPr>
      </p:sp>
      <p:sp>
        <p:nvSpPr>
          <p:cNvPr id="14" name="Text 12"/>
          <p:cNvSpPr/>
          <p:nvPr/>
        </p:nvSpPr>
        <p:spPr>
          <a:xfrm>
            <a:off x="640080" y="4023360"/>
            <a:ext cx="5486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</a:rPr>
              <a:t>💬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1371600" y="4023360"/>
            <a:ext cx="10058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Try it:</a:t>
            </a:r>
            <a:r>
              <a:rPr lang="en-US" sz="1500" dirty="0">
                <a:solidFill>
                  <a:srgbClr val="C8D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“What's my portfolio worth?” / “What's the risk on my tech positions?” / “Any news on NVDA?”</a:t>
            </a:r>
            <a:endParaRPr lang="en-US" sz="1500" dirty="0"/>
          </a:p>
        </p:txBody>
      </p:sp>
      <p:sp>
        <p:nvSpPr>
          <p:cNvPr id="17" name="Shape 15"/>
          <p:cNvSpPr/>
          <p:nvPr/>
        </p:nvSpPr>
        <p:spPr>
          <a:xfrm>
            <a:off x="457200" y="4892040"/>
            <a:ext cx="11247120" cy="731520"/>
          </a:xfrm>
          <a:prstGeom prst="roundRect">
            <a:avLst>
              <a:gd name="adj" fmla="val 12500"/>
            </a:avLst>
          </a:prstGeom>
          <a:solidFill>
            <a:srgbClr val="232B3E"/>
          </a:solidFill>
          <a:ln/>
        </p:spPr>
      </p:sp>
      <p:sp>
        <p:nvSpPr>
          <p:cNvPr id="18" name="Text 16"/>
          <p:cNvSpPr/>
          <p:nvPr/>
        </p:nvSpPr>
        <p:spPr>
          <a:xfrm>
            <a:off x="640080" y="4892040"/>
            <a:ext cx="5486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</a:rPr>
              <a:t>🚀</a:t>
            </a:r>
            <a:endParaRPr lang="en-US" sz="2200" dirty="0"/>
          </a:p>
        </p:txBody>
      </p:sp>
      <p:sp>
        <p:nvSpPr>
          <p:cNvPr id="19" name="Text 17"/>
          <p:cNvSpPr/>
          <p:nvPr/>
        </p:nvSpPr>
        <p:spPr>
          <a:xfrm>
            <a:off x="1371600" y="4892040"/>
            <a:ext cx="10058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 to production:</a:t>
            </a:r>
            <a:r>
              <a:rPr lang="en-US" sz="1500" dirty="0">
                <a:solidFill>
                  <a:srgbClr val="C8D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swap LocalReasoningEngine for BedrockModel and pass a real memory_id to MemoryManager — same code, same prompts, same agent-as-tool structure</a:t>
            </a:r>
            <a:endParaRPr lang="en-US" sz="1500" dirty="0"/>
          </a:p>
        </p:txBody>
      </p:sp>
      <p:sp>
        <p:nvSpPr>
          <p:cNvPr id="25" name="Text 23"/>
          <p:cNvSpPr/>
          <p:nvPr/>
        </p:nvSpPr>
        <p:spPr>
          <a:xfrm>
            <a:off x="457200" y="64008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© 2026, Amazon Web Services, Inc. or its affiliates. All rights reserved.</a:t>
            </a:r>
            <a:endParaRPr lang="en-US" sz="7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161E2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74320"/>
            <a:ext cx="914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aws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457200" y="82296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takeaways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457200" y="1828800"/>
            <a:ext cx="5486400" cy="1280160"/>
          </a:xfrm>
          <a:prstGeom prst="roundRect">
            <a:avLst>
              <a:gd name="adj" fmla="val 7143"/>
            </a:avLst>
          </a:prstGeom>
          <a:solidFill>
            <a:srgbClr val="232B3E"/>
          </a:solidFill>
          <a:ln/>
        </p:spPr>
      </p:sp>
      <p:sp>
        <p:nvSpPr>
          <p:cNvPr id="5" name="Shape 3"/>
          <p:cNvSpPr/>
          <p:nvPr/>
        </p:nvSpPr>
        <p:spPr>
          <a:xfrm>
            <a:off x="457200" y="1828800"/>
            <a:ext cx="109728" cy="1280160"/>
          </a:xfrm>
          <a:prstGeom prst="rect">
            <a:avLst/>
          </a:prstGeom>
          <a:solidFill>
            <a:srgbClr val="FF6B6B"/>
          </a:solidFill>
          <a:ln/>
        </p:spPr>
      </p:sp>
      <p:sp>
        <p:nvSpPr>
          <p:cNvPr id="6" name="Text 4"/>
          <p:cNvSpPr/>
          <p:nvPr/>
        </p:nvSpPr>
        <p:spPr>
          <a:xfrm>
            <a:off x="822960" y="1965960"/>
            <a:ext cx="4754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Strands SDK makes agents simple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822960" y="2468880"/>
            <a:ext cx="4754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C8D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@tool, Agent, BedrockModel — minimal boilerplate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57200" y="3383280"/>
            <a:ext cx="5486400" cy="1280160"/>
          </a:xfrm>
          <a:prstGeom prst="roundRect">
            <a:avLst>
              <a:gd name="adj" fmla="val 7143"/>
            </a:avLst>
          </a:prstGeom>
          <a:solidFill>
            <a:srgbClr val="232B3E"/>
          </a:solidFill>
          <a:ln/>
        </p:spPr>
      </p:sp>
      <p:sp>
        <p:nvSpPr>
          <p:cNvPr id="9" name="Shape 7"/>
          <p:cNvSpPr/>
          <p:nvPr/>
        </p:nvSpPr>
        <p:spPr>
          <a:xfrm>
            <a:off x="457200" y="3383280"/>
            <a:ext cx="109728" cy="1280160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10" name="Text 8"/>
          <p:cNvSpPr/>
          <p:nvPr/>
        </p:nvSpPr>
        <p:spPr>
          <a:xfrm>
            <a:off x="822960" y="3520440"/>
            <a:ext cx="4754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Specialisation beats monoliths</a:t>
            </a:r>
            <a:endParaRPr lang="en-US" sz="1700" dirty="0"/>
          </a:p>
        </p:txBody>
      </p:sp>
      <p:sp>
        <p:nvSpPr>
          <p:cNvPr id="11" name="Text 9"/>
          <p:cNvSpPr/>
          <p:nvPr/>
        </p:nvSpPr>
        <p:spPr>
          <a:xfrm>
            <a:off x="822960" y="4023360"/>
            <a:ext cx="4754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C8D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Focused sub-agents produce sharper, more reliable answers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457200" y="4937760"/>
            <a:ext cx="5486400" cy="1280160"/>
          </a:xfrm>
          <a:prstGeom prst="roundRect">
            <a:avLst>
              <a:gd name="adj" fmla="val 7143"/>
            </a:avLst>
          </a:prstGeom>
          <a:solidFill>
            <a:srgbClr val="232B3E"/>
          </a:solidFill>
          <a:ln/>
        </p:spPr>
      </p:sp>
      <p:sp>
        <p:nvSpPr>
          <p:cNvPr id="13" name="Shape 11"/>
          <p:cNvSpPr/>
          <p:nvPr/>
        </p:nvSpPr>
        <p:spPr>
          <a:xfrm>
            <a:off x="457200" y="4937760"/>
            <a:ext cx="109728" cy="1280160"/>
          </a:xfrm>
          <a:prstGeom prst="rect">
            <a:avLst/>
          </a:prstGeom>
          <a:solidFill>
            <a:srgbClr val="8B5CF6"/>
          </a:solidFill>
          <a:ln/>
        </p:spPr>
      </p:sp>
      <p:sp>
        <p:nvSpPr>
          <p:cNvPr id="14" name="Text 12"/>
          <p:cNvSpPr/>
          <p:nvPr/>
        </p:nvSpPr>
        <p:spPr>
          <a:xfrm>
            <a:off x="822960" y="5074920"/>
            <a:ext cx="4754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Agent-as-tool pattern is powerful</a:t>
            </a:r>
            <a:endParaRPr lang="en-US" sz="1700" dirty="0"/>
          </a:p>
        </p:txBody>
      </p:sp>
      <p:sp>
        <p:nvSpPr>
          <p:cNvPr id="15" name="Text 13"/>
          <p:cNvSpPr/>
          <p:nvPr/>
        </p:nvSpPr>
        <p:spPr>
          <a:xfrm>
            <a:off x="822960" y="5577840"/>
            <a:ext cx="4754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C8D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Orchestrator delegates using the same tool mechanism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6309360" y="1828800"/>
            <a:ext cx="5486400" cy="1280160"/>
          </a:xfrm>
          <a:prstGeom prst="roundRect">
            <a:avLst>
              <a:gd name="adj" fmla="val 7143"/>
            </a:avLst>
          </a:prstGeom>
          <a:solidFill>
            <a:srgbClr val="232B3E"/>
          </a:solidFill>
          <a:ln/>
        </p:spPr>
      </p:sp>
      <p:sp>
        <p:nvSpPr>
          <p:cNvPr id="17" name="Shape 15"/>
          <p:cNvSpPr/>
          <p:nvPr/>
        </p:nvSpPr>
        <p:spPr>
          <a:xfrm>
            <a:off x="6309360" y="1828800"/>
            <a:ext cx="109728" cy="1280160"/>
          </a:xfrm>
          <a:prstGeom prst="rect">
            <a:avLst/>
          </a:prstGeom>
          <a:solidFill>
            <a:srgbClr val="2EC4B6"/>
          </a:solidFill>
          <a:ln/>
        </p:spPr>
      </p:sp>
      <p:sp>
        <p:nvSpPr>
          <p:cNvPr id="18" name="Text 16"/>
          <p:cNvSpPr/>
          <p:nvPr/>
        </p:nvSpPr>
        <p:spPr>
          <a:xfrm>
            <a:off x="6675120" y="1965960"/>
            <a:ext cx="4754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Guardrails are infrastructure</a:t>
            </a:r>
            <a:endParaRPr lang="en-US" sz="1700" dirty="0"/>
          </a:p>
        </p:txBody>
      </p:sp>
      <p:sp>
        <p:nvSpPr>
          <p:cNvPr id="19" name="Text 17"/>
          <p:cNvSpPr/>
          <p:nvPr/>
        </p:nvSpPr>
        <p:spPr>
          <a:xfrm>
            <a:off x="6675120" y="2468880"/>
            <a:ext cx="4754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C8D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Attach once — every request screened, zero code changes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6309360" y="3383280"/>
            <a:ext cx="5486400" cy="1280160"/>
          </a:xfrm>
          <a:prstGeom prst="roundRect">
            <a:avLst>
              <a:gd name="adj" fmla="val 7143"/>
            </a:avLst>
          </a:prstGeom>
          <a:solidFill>
            <a:srgbClr val="232B3E"/>
          </a:solidFill>
          <a:ln/>
        </p:spPr>
      </p:sp>
      <p:sp>
        <p:nvSpPr>
          <p:cNvPr id="21" name="Shape 19"/>
          <p:cNvSpPr/>
          <p:nvPr/>
        </p:nvSpPr>
        <p:spPr>
          <a:xfrm>
            <a:off x="6309360" y="3383280"/>
            <a:ext cx="109728" cy="128016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22" name="Text 20"/>
          <p:cNvSpPr/>
          <p:nvPr/>
        </p:nvSpPr>
        <p:spPr>
          <a:xfrm>
            <a:off x="6675120" y="3520440"/>
            <a:ext cx="4754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Memory makes agents personal</a:t>
            </a:r>
            <a:endParaRPr lang="en-US" sz="1700" dirty="0"/>
          </a:p>
        </p:txBody>
      </p:sp>
      <p:sp>
        <p:nvSpPr>
          <p:cNvPr id="23" name="Text 21"/>
          <p:cNvSpPr/>
          <p:nvPr/>
        </p:nvSpPr>
        <p:spPr>
          <a:xfrm>
            <a:off x="6675120" y="4023360"/>
            <a:ext cx="4754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C8D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Inject past context — users notice immediately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6309360" y="4937760"/>
            <a:ext cx="5486400" cy="1280160"/>
          </a:xfrm>
          <a:prstGeom prst="roundRect">
            <a:avLst>
              <a:gd name="adj" fmla="val 7143"/>
            </a:avLst>
          </a:prstGeom>
          <a:solidFill>
            <a:srgbClr val="232B3E"/>
          </a:solidFill>
          <a:ln/>
        </p:spPr>
      </p:sp>
      <p:sp>
        <p:nvSpPr>
          <p:cNvPr id="25" name="Shape 23"/>
          <p:cNvSpPr/>
          <p:nvPr/>
        </p:nvSpPr>
        <p:spPr>
          <a:xfrm>
            <a:off x="6309360" y="4937760"/>
            <a:ext cx="109728" cy="1280160"/>
          </a:xfrm>
          <a:prstGeom prst="rect">
            <a:avLst/>
          </a:prstGeom>
          <a:solidFill>
            <a:srgbClr val="EC4899"/>
          </a:solidFill>
          <a:ln/>
        </p:spPr>
      </p:sp>
      <p:sp>
        <p:nvSpPr>
          <p:cNvPr id="26" name="Text 24"/>
          <p:cNvSpPr/>
          <p:nvPr/>
        </p:nvSpPr>
        <p:spPr>
          <a:xfrm>
            <a:off x="6675120" y="5074920"/>
            <a:ext cx="4754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agentcore deploy is production-ready</a:t>
            </a:r>
            <a:endParaRPr lang="en-US" sz="1700" dirty="0"/>
          </a:p>
        </p:txBody>
      </p:sp>
      <p:sp>
        <p:nvSpPr>
          <p:cNvPr id="27" name="Text 25"/>
          <p:cNvSpPr/>
          <p:nvPr/>
        </p:nvSpPr>
        <p:spPr>
          <a:xfrm>
            <a:off x="6675120" y="5577840"/>
            <a:ext cx="4754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C8D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CLI commands from local dev to live endpoint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457200" y="64008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© 2026, Amazon Web Services, Inc. or its affiliates. All rights reserved.</a:t>
            </a:r>
            <a:endParaRPr lang="en-US" sz="7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161E2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74320"/>
            <a:ext cx="914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aws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457200" y="82296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Resources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457200" y="1828800"/>
            <a:ext cx="11247120" cy="650000"/>
          </a:xfrm>
          <a:prstGeom prst="roundRect">
            <a:avLst>
              <a:gd name="adj" fmla="val 9412"/>
            </a:avLst>
          </a:prstGeom>
          <a:solidFill>
            <a:srgbClr val="232B3E"/>
          </a:solidFill>
          <a:ln/>
        </p:spPr>
      </p:sp>
      <p:sp>
        <p:nvSpPr>
          <p:cNvPr id="5" name="Shape 3"/>
          <p:cNvSpPr/>
          <p:nvPr/>
        </p:nvSpPr>
        <p:spPr>
          <a:xfrm>
            <a:off x="457200" y="1828800"/>
            <a:ext cx="91440" cy="650000"/>
          </a:xfrm>
          <a:prstGeom prst="rect">
            <a:avLst/>
          </a:prstGeom>
          <a:solidFill>
            <a:srgbClr val="FF6B6B"/>
          </a:solidFill>
          <a:ln/>
        </p:spPr>
      </p:sp>
      <p:sp>
        <p:nvSpPr>
          <p:cNvPr id="6" name="Text 4"/>
          <p:cNvSpPr/>
          <p:nvPr/>
        </p:nvSpPr>
        <p:spPr>
          <a:xfrm>
            <a:off x="822960" y="1828800"/>
            <a:ext cx="4114800" cy="65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Strands Agents SDK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5029200" y="1828800"/>
            <a:ext cx="6400800" cy="65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6B6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github.com/strands-agents/sdk-python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57200" y="2593200"/>
            <a:ext cx="11247120" cy="650000"/>
          </a:xfrm>
          <a:prstGeom prst="roundRect">
            <a:avLst>
              <a:gd name="adj" fmla="val 9412"/>
            </a:avLst>
          </a:prstGeom>
          <a:solidFill>
            <a:srgbClr val="232B3E"/>
          </a:solidFill>
          <a:ln/>
        </p:spPr>
      </p:sp>
      <p:sp>
        <p:nvSpPr>
          <p:cNvPr id="9" name="Shape 7"/>
          <p:cNvSpPr/>
          <p:nvPr/>
        </p:nvSpPr>
        <p:spPr>
          <a:xfrm>
            <a:off x="457200" y="2593200"/>
            <a:ext cx="91440" cy="650000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10" name="Text 8"/>
          <p:cNvSpPr/>
          <p:nvPr/>
        </p:nvSpPr>
        <p:spPr>
          <a:xfrm>
            <a:off x="822960" y="2593200"/>
            <a:ext cx="4114800" cy="65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Hands-On Workshop</a:t>
            </a:r>
            <a:endParaRPr lang="en-US" sz="1700" dirty="0"/>
          </a:p>
        </p:txBody>
      </p:sp>
      <p:sp>
        <p:nvSpPr>
          <p:cNvPr id="11" name="Text 9"/>
          <p:cNvSpPr/>
          <p:nvPr/>
        </p:nvSpPr>
        <p:spPr>
          <a:xfrm>
            <a:off x="5029200" y="2593200"/>
            <a:ext cx="6400800" cy="65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00B4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github.com/aws-samples/sample-strands-agents-hands-on-workshop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457200" y="3357600"/>
            <a:ext cx="11247120" cy="650000"/>
          </a:xfrm>
          <a:prstGeom prst="roundRect">
            <a:avLst>
              <a:gd name="adj" fmla="val 9412"/>
            </a:avLst>
          </a:prstGeom>
          <a:solidFill>
            <a:srgbClr val="232B3E"/>
          </a:solidFill>
          <a:ln/>
        </p:spPr>
      </p:sp>
      <p:sp>
        <p:nvSpPr>
          <p:cNvPr id="13" name="Shape 11"/>
          <p:cNvSpPr/>
          <p:nvPr/>
        </p:nvSpPr>
        <p:spPr>
          <a:xfrm>
            <a:off x="457200" y="3357600"/>
            <a:ext cx="91440" cy="650000"/>
          </a:xfrm>
          <a:prstGeom prst="rect">
            <a:avLst/>
          </a:prstGeom>
          <a:solidFill>
            <a:srgbClr val="8B5CF6"/>
          </a:solidFill>
          <a:ln/>
        </p:spPr>
      </p:sp>
      <p:sp>
        <p:nvSpPr>
          <p:cNvPr id="14" name="Text 12"/>
          <p:cNvSpPr/>
          <p:nvPr/>
        </p:nvSpPr>
        <p:spPr>
          <a:xfrm>
            <a:off x="822960" y="3357600"/>
            <a:ext cx="4114800" cy="65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Amazon Bedrock AgentCore Docs</a:t>
            </a:r>
            <a:endParaRPr lang="en-US" sz="1700" dirty="0"/>
          </a:p>
        </p:txBody>
      </p:sp>
      <p:sp>
        <p:nvSpPr>
          <p:cNvPr id="15" name="Text 13"/>
          <p:cNvSpPr/>
          <p:nvPr/>
        </p:nvSpPr>
        <p:spPr>
          <a:xfrm>
            <a:off x="5029200" y="3357600"/>
            <a:ext cx="6400800" cy="65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8B5C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docs.aws.amazon.com/bedrock-agentcore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457200" y="4122000"/>
            <a:ext cx="11247120" cy="650000"/>
          </a:xfrm>
          <a:prstGeom prst="roundRect">
            <a:avLst>
              <a:gd name="adj" fmla="val 9412"/>
            </a:avLst>
          </a:prstGeom>
          <a:solidFill>
            <a:srgbClr val="232B3E"/>
          </a:solidFill>
          <a:ln/>
        </p:spPr>
      </p:sp>
      <p:sp>
        <p:nvSpPr>
          <p:cNvPr id="17" name="Shape 15"/>
          <p:cNvSpPr/>
          <p:nvPr/>
        </p:nvSpPr>
        <p:spPr>
          <a:xfrm>
            <a:off x="457200" y="4122000"/>
            <a:ext cx="91440" cy="650000"/>
          </a:xfrm>
          <a:prstGeom prst="rect">
            <a:avLst/>
          </a:prstGeom>
          <a:solidFill>
            <a:srgbClr val="2EC4B6"/>
          </a:solidFill>
          <a:ln/>
        </p:spPr>
      </p:sp>
      <p:sp>
        <p:nvSpPr>
          <p:cNvPr id="18" name="Text 16"/>
          <p:cNvSpPr/>
          <p:nvPr/>
        </p:nvSpPr>
        <p:spPr>
          <a:xfrm>
            <a:off x="822960" y="4122000"/>
            <a:ext cx="4114800" cy="65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Amazon Bedrock Guardrails</a:t>
            </a:r>
            <a:endParaRPr lang="en-US" sz="1700" dirty="0"/>
          </a:p>
        </p:txBody>
      </p:sp>
      <p:sp>
        <p:nvSpPr>
          <p:cNvPr id="19" name="Text 17"/>
          <p:cNvSpPr/>
          <p:nvPr/>
        </p:nvSpPr>
        <p:spPr>
          <a:xfrm>
            <a:off x="5029200" y="4122000"/>
            <a:ext cx="6400800" cy="65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2EC4B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docs.aws.amazon.com/bedrock/latest/userguide/guardrails.html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457200" y="4886400"/>
            <a:ext cx="11247120" cy="650000"/>
          </a:xfrm>
          <a:prstGeom prst="roundRect">
            <a:avLst>
              <a:gd name="adj" fmla="val 9412"/>
            </a:avLst>
          </a:prstGeom>
          <a:solidFill>
            <a:srgbClr val="232B3E"/>
          </a:solidFill>
          <a:ln/>
        </p:spPr>
      </p:sp>
      <p:sp>
        <p:nvSpPr>
          <p:cNvPr id="21" name="Shape 19"/>
          <p:cNvSpPr/>
          <p:nvPr/>
        </p:nvSpPr>
        <p:spPr>
          <a:xfrm>
            <a:off x="457200" y="4886400"/>
            <a:ext cx="91440" cy="65000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22" name="Text 20"/>
          <p:cNvSpPr/>
          <p:nvPr/>
        </p:nvSpPr>
        <p:spPr>
          <a:xfrm>
            <a:off x="822960" y="4886400"/>
            <a:ext cx="4114800" cy="65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Strands Agents Documentation</a:t>
            </a:r>
            <a:endParaRPr lang="en-US" sz="1700" dirty="0"/>
          </a:p>
        </p:txBody>
      </p:sp>
      <p:sp>
        <p:nvSpPr>
          <p:cNvPr id="23" name="Text 21"/>
          <p:cNvSpPr/>
          <p:nvPr/>
        </p:nvSpPr>
        <p:spPr>
          <a:xfrm>
            <a:off x="5029200" y="4886400"/>
            <a:ext cx="6400800" cy="65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59E0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strandsagents.com/latest</a:t>
            </a:r>
            <a:endParaRPr lang="en-US" sz="1300" dirty="0"/>
          </a:p>
        </p:txBody>
      </p:sp>
      <p:sp>
        <p:nvSpPr>
          <p:cNvPr id="25" name="Shape 22"/>
          <p:cNvSpPr/>
          <p:nvPr/>
        </p:nvSpPr>
        <p:spPr>
          <a:xfrm>
            <a:off x="457200" y="5650800"/>
            <a:ext cx="11247120" cy="650000"/>
          </a:xfrm>
          <a:prstGeom prst="roundRect">
            <a:avLst>
              <a:gd name="adj" fmla="val 9412"/>
            </a:avLst>
          </a:prstGeom>
          <a:solidFill>
            <a:srgbClr val="232B3E"/>
          </a:solidFill>
          <a:ln/>
        </p:spPr>
      </p:sp>
      <p:sp>
        <p:nvSpPr>
          <p:cNvPr id="26" name="Shape 23"/>
          <p:cNvSpPr/>
          <p:nvPr/>
        </p:nvSpPr>
        <p:spPr>
          <a:xfrm>
            <a:off x="457200" y="5650800"/>
            <a:ext cx="91440" cy="650000"/>
          </a:xfrm>
          <a:prstGeom prst="rect">
            <a:avLst/>
          </a:prstGeom>
          <a:solidFill>
            <a:srgbClr val="EC4899"/>
          </a:solidFill>
          <a:ln/>
        </p:spPr>
      </p:sp>
      <p:sp>
        <p:nvSpPr>
          <p:cNvPr id="27" name="Text 24"/>
          <p:cNvSpPr/>
          <p:nvPr/>
        </p:nvSpPr>
        <p:spPr>
          <a:xfrm>
            <a:off x="822960" y="5650800"/>
            <a:ext cx="4114800" cy="65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demo</a:t>
            </a:r>
            <a:endParaRPr lang="en-US" sz="1700" dirty="0"/>
          </a:p>
        </p:txBody>
      </p:sp>
      <p:sp>
        <p:nvSpPr>
          <p:cNvPr id="28" name="Text 25"/>
          <p:cNvSpPr/>
          <p:nvPr/>
        </p:nvSpPr>
        <p:spPr>
          <a:xfrm>
            <a:off x="5029200" y="5650800"/>
            <a:ext cx="6400800" cy="65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EC48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notebook, web app, and write-up 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457200" y="64008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© 2026, Amazon Web Services, Inc. or its affiliates. All rights reserved.</a:t>
            </a:r>
            <a:endParaRPr lang="en-US" sz="7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83DAEB29-E368-747E-3AF4-698BAC816E79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en-US" dirty="0"/>
              <a:t>Thank you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sz="quarter" idx="12"/>
          </p:nvPr>
        </p:nvSpPr>
        <p:spPr/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12480" y="2348785"/>
            <a:ext cx="3168147" cy="31720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1668284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438</TotalTime>
  <Words>1303</Words>
  <Application>Microsoft Office PowerPoint</Application>
  <PresentationFormat>Widescreen</PresentationFormat>
  <Paragraphs>311</Paragraphs>
  <Slides>23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23</vt:i4>
      </vt:variant>
    </vt:vector>
  </HeadingPairs>
  <TitlesOfParts>
    <vt:vector size="30" baseType="lpstr">
      <vt:lpstr>Amazon Ember Display</vt:lpstr>
      <vt:lpstr>Amazon Ember Mono</vt:lpstr>
      <vt:lpstr>Arial</vt:lpstr>
      <vt:lpstr>Calibri</vt:lpstr>
      <vt:lpstr>Calibri Light</vt:lpstr>
      <vt:lpstr>Courier New</vt:lpstr>
      <vt:lpstr>Office Theme</vt:lpstr>
      <vt:lpstr>PowerPoint Presentation</vt:lpstr>
      <vt:lpstr>Use agent strategies to streamline complex business tasks</vt:lpstr>
      <vt:lpstr>Building a Memory-Powered Multi-Agent Financial Advisor 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user</cp:lastModifiedBy>
  <cp:revision>11</cp:revision>
  <dcterms:created xsi:type="dcterms:W3CDTF">2026-07-26T15:25:14Z</dcterms:created>
  <dcterms:modified xsi:type="dcterms:W3CDTF">2026-08-19T11:12:03Z</dcterms:modified>
</cp:coreProperties>
</file>